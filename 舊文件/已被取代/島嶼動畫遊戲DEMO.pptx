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3"/>
  </p:normalViewPr>
  <p:slideViewPr>
    <p:cSldViewPr snapToGrid="0">
      <p:cViewPr varScale="1">
        <p:scale>
          <a:sx n="116" d="100"/>
          <a:sy n="116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AB261CE-CA39-4A4A-8703-7BC7F00F46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1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rcRect l="23969" r="23969"/>
          <a:stretch>
            <a:fillRect/>
          </a:stretch>
        </p:blipFill>
        <p:spPr>
          <a:xfrm>
            <a:off x="4953000" y="0"/>
            <a:ext cx="7239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A807A8F-241E-4E81-9223-0D02F53521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17313B">
              <a:alpha val="9372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F7CA38-8D7E-4E76-9BEF-D36492C0C033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rPr>
              <a:t>遊戲介面報告簡報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1A8258-7D07-45CC-B595-C73E52884A0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191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混音：Island Fitness AI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3E59A9-6472-4FE3-AB7D-6DE3B7FEA771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476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CE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CEDEA"/>
                </a:solidFill>
                <a:latin typeface="Microsoft JhengHei"/>
                <a:ea typeface="Microsoft JhengHei"/>
                <a:cs typeface="Microsoft JhengHei"/>
              </a:rPr>
              <a:t>讓第一次接觸的玩家，也能快速看懂這個 3D 島嶼遊戲介面。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C3F429-9040-4AD9-A317-83FC86B602E0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428750" cy="323850"/>
          </a:xfrm>
          <a:prstGeom prst="rect">
            <a:avLst/>
          </a:prstGeom>
          <a:solidFill>
            <a:srgbClr val="E7F7F3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F7F207-9796-4020-842D-E09604B6D92F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只談遊戲介面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4F7B27-8841-41BA-B63A-F213AD94415B}"/>
              </a:ext>
            </a:extLst>
          </p:cNvPr>
          <p:cNvSpPr>
            <a:spLocks noGrp="1"/>
          </p:cNvSpPr>
          <p:nvPr/>
        </p:nvSpPr>
        <p:spPr>
          <a:xfrm>
            <a:off x="2152650" y="2609850"/>
            <a:ext cx="1333500" cy="323850"/>
          </a:xfrm>
          <a:prstGeom prst="rect">
            <a:avLst/>
          </a:prstGeom>
          <a:solidFill>
            <a:srgbClr val="EAF2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DA8765-BF5C-499A-AC85-F40461A34121}"/>
              </a:ext>
            </a:extLst>
          </p:cNvPr>
          <p:cNvSpPr>
            <a:spLocks noGrp="1"/>
          </p:cNvSpPr>
          <p:nvPr/>
        </p:nvSpPr>
        <p:spPr>
          <a:xfrm>
            <a:off x="2266950" y="26860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F80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F80ED"/>
                </a:solidFill>
                <a:latin typeface="Microsoft JhengHei"/>
                <a:ea typeface="Microsoft JhengHei"/>
                <a:cs typeface="Microsoft JhengHei"/>
              </a:rPr>
              <a:t>含互動邏輯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0F46A4-95C4-4193-A6F8-D39DFEA8022F}"/>
              </a:ext>
            </a:extLst>
          </p:cNvPr>
          <p:cNvSpPr>
            <a:spLocks noGrp="1"/>
          </p:cNvSpPr>
          <p:nvPr/>
        </p:nvSpPr>
        <p:spPr>
          <a:xfrm>
            <a:off x="3600450" y="2609850"/>
            <a:ext cx="1333500" cy="323850"/>
          </a:xfrm>
          <a:prstGeom prst="rect">
            <a:avLst/>
          </a:prstGeom>
          <a:solidFill>
            <a:srgbClr val="FFF5D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EEC2CB-0A56-45FF-90C3-59006B215066}"/>
              </a:ext>
            </a:extLst>
          </p:cNvPr>
          <p:cNvSpPr>
            <a:spLocks noGrp="1"/>
          </p:cNvSpPr>
          <p:nvPr/>
        </p:nvSpPr>
        <p:spPr>
          <a:xfrm>
            <a:off x="3714750" y="26860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956B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956B00"/>
                </a:solidFill>
                <a:latin typeface="Microsoft JhengHei"/>
                <a:ea typeface="Microsoft JhengHei"/>
                <a:cs typeface="Microsoft JhengHei"/>
              </a:rPr>
              <a:t>含改進建議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4B8808-612D-4D23-B395-6CEEFB770C88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4476750" cy="1352550"/>
          </a:xfrm>
          <a:prstGeom prst="rect">
            <a:avLst/>
          </a:prstGeom>
          <a:solidFill>
            <a:srgbClr val="FFFFFF">
              <a:alpha val="7451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948B33-1A16-41B0-BA79-8932424C77B6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本版已重新檢查 PDF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CBE256-20D4-40CD-983B-EC58D47F463F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3810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6F3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E6F3F0"/>
                </a:solidFill>
                <a:latin typeface="Microsoft JhengHei"/>
                <a:ea typeface="Microsoft JhengHei"/>
                <a:cs typeface="Microsoft JhengHei"/>
              </a:rPr>
              <a:t>修正孤立標題造成的分頁不自然問題；確認截圖清楚、中文字體一致、表格可讀。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971A18-F7B0-4E6F-BF60-82D61D3FB5F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83A83A1-631D-4A85-B9C1-70A4E98316F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資料來源：使用者提供之遊戲首頁截圖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E76030-7E9E-482A-AD08-B7240216A29E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9778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B69C1082-3DEE-4902-8A33-D86893E77C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CA02F2-0BE8-4B88-BB86-8BCAE2FA86C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SCOPE + QA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4EACCE-FDD2-4FEE-8DF2-89C6D57B16F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7620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這份簡報只聚焦遊戲介面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B10792-B49B-4691-9D49-D487A39192A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健身、追蹤、設定等非遊戲功能依需求排除。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DA739A-C445-43B3-9872-4AA1B4119DE9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287000" cy="190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C368B4-54D4-4FE6-9E77-C6FA830189DA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524125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6BB57E-25E1-41C1-AF17-14A8E0B3CE70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2524125" cy="571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3DB67F-4589-4DE3-AED4-E1D1E62F3AA1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22193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分析範圍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DC3E80-3BF7-4696-A3C8-5C02DDB60F4C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2219325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首頁主畫面、每日獎勵流程、玩家狀態、3D 場景、遊戲入口、事件倒數、縮放控制。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550F83-DF82-4BFB-B7B6-7FA528B38EF9}"/>
              </a:ext>
            </a:extLst>
          </p:cNvPr>
          <p:cNvSpPr>
            <a:spLocks noGrp="1"/>
          </p:cNvSpPr>
          <p:nvPr/>
        </p:nvSpPr>
        <p:spPr>
          <a:xfrm>
            <a:off x="3390900" y="2247900"/>
            <a:ext cx="2524125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D485A3-93D1-43CD-B573-9C18DD885371}"/>
              </a:ext>
            </a:extLst>
          </p:cNvPr>
          <p:cNvSpPr>
            <a:spLocks noGrp="1"/>
          </p:cNvSpPr>
          <p:nvPr/>
        </p:nvSpPr>
        <p:spPr>
          <a:xfrm>
            <a:off x="3390900" y="2247900"/>
            <a:ext cx="2524125" cy="57150"/>
          </a:xfrm>
          <a:prstGeom prst="rect">
            <a:avLst/>
          </a:prstGeom>
          <a:solidFill>
            <a:srgbClr val="2F80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621BFE-295A-45AF-9493-4142C28A9665}"/>
              </a:ext>
            </a:extLst>
          </p:cNvPr>
          <p:cNvSpPr>
            <a:spLocks noGrp="1"/>
          </p:cNvSpPr>
          <p:nvPr/>
        </p:nvSpPr>
        <p:spPr>
          <a:xfrm>
            <a:off x="3543300" y="2381250"/>
            <a:ext cx="22193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讀者定位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453ED5-D03A-4053-8E70-A8B1F71EF395}"/>
              </a:ext>
            </a:extLst>
          </p:cNvPr>
          <p:cNvSpPr>
            <a:spLocks noGrp="1"/>
          </p:cNvSpPr>
          <p:nvPr/>
        </p:nvSpPr>
        <p:spPr>
          <a:xfrm>
            <a:off x="3543300" y="2686050"/>
            <a:ext cx="2219325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一般玩家約七成，老師與評審約三成；技術內容用高中生能理解的方式說明。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903EC1-FC9A-498B-8F51-9C3C5FA52D38}"/>
              </a:ext>
            </a:extLst>
          </p:cNvPr>
          <p:cNvSpPr>
            <a:spLocks noGrp="1"/>
          </p:cNvSpPr>
          <p:nvPr/>
        </p:nvSpPr>
        <p:spPr>
          <a:xfrm>
            <a:off x="6172200" y="2247900"/>
            <a:ext cx="2524125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A87976-DC7C-412D-A797-26DFEA462056}"/>
              </a:ext>
            </a:extLst>
          </p:cNvPr>
          <p:cNvSpPr>
            <a:spLocks noGrp="1"/>
          </p:cNvSpPr>
          <p:nvPr/>
        </p:nvSpPr>
        <p:spPr>
          <a:xfrm>
            <a:off x="6172200" y="2247900"/>
            <a:ext cx="2524125" cy="57150"/>
          </a:xfrm>
          <a:prstGeom prst="rect">
            <a:avLst/>
          </a:prstGeom>
          <a:solidFill>
            <a:srgbClr val="F2B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9B2C7C-7E6E-4D09-BA2A-A325E14F16C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22193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資料依據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EBA7DE-B054-460B-B71A-15B5BA8170F5}"/>
              </a:ext>
            </a:extLst>
          </p:cNvPr>
          <p:cNvSpPr>
            <a:spLocks noGrp="1"/>
          </p:cNvSpPr>
          <p:nvPr/>
        </p:nvSpPr>
        <p:spPr>
          <a:xfrm>
            <a:off x="6324600" y="2686050"/>
            <a:ext cx="2219325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主要依據使用者提供的截圖；分享網址在乾淨瀏覽器中會進入 Google 登入頁。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442319-A339-4AF4-AB3A-8DF2A015A2D3}"/>
              </a:ext>
            </a:extLst>
          </p:cNvPr>
          <p:cNvSpPr>
            <a:spLocks noGrp="1"/>
          </p:cNvSpPr>
          <p:nvPr/>
        </p:nvSpPr>
        <p:spPr>
          <a:xfrm>
            <a:off x="8953500" y="2247900"/>
            <a:ext cx="2524125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4673B5-03C2-4E91-9D48-74515EB168A5}"/>
              </a:ext>
            </a:extLst>
          </p:cNvPr>
          <p:cNvSpPr>
            <a:spLocks noGrp="1"/>
          </p:cNvSpPr>
          <p:nvPr/>
        </p:nvSpPr>
        <p:spPr>
          <a:xfrm>
            <a:off x="8953500" y="2247900"/>
            <a:ext cx="2524125" cy="57150"/>
          </a:xfrm>
          <a:prstGeom prst="rect">
            <a:avLst/>
          </a:prstGeom>
          <a:solidFill>
            <a:srgbClr val="E56B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6ECD6B-16CA-4BD6-9151-B522AD6341DF}"/>
              </a:ext>
            </a:extLst>
          </p:cNvPr>
          <p:cNvSpPr>
            <a:spLocks noGrp="1"/>
          </p:cNvSpPr>
          <p:nvPr/>
        </p:nvSpPr>
        <p:spPr>
          <a:xfrm>
            <a:off x="9105900" y="2381250"/>
            <a:ext cx="22193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交付目的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6126D4-2079-4E0D-BC9B-4566C0F02778}"/>
              </a:ext>
            </a:extLst>
          </p:cNvPr>
          <p:cNvSpPr>
            <a:spLocks noGrp="1"/>
          </p:cNvSpPr>
          <p:nvPr/>
        </p:nvSpPr>
        <p:spPr>
          <a:xfrm>
            <a:off x="9105900" y="2686050"/>
            <a:ext cx="2219325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讓沒玩過的人理解介面、功能、互動邏輯、設計優缺點與改善方向。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D3911A-25FC-4758-A8FF-EE12AEE9685E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PDF 複查結果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371182-9368-4145-BEF4-7E8F3B380914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2000250" cy="38100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0C723E-AF99-4CC4-B53A-4338BB3A4111}"/>
              </a:ext>
            </a:extLst>
          </p:cNvPr>
          <p:cNvSpPr>
            <a:spLocks noGrp="1"/>
          </p:cNvSpPr>
          <p:nvPr/>
        </p:nvSpPr>
        <p:spPr>
          <a:xfrm>
            <a:off x="704850" y="448627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檢查項目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D4FD86-2BD0-43D1-8F64-34078DDBB378}"/>
              </a:ext>
            </a:extLst>
          </p:cNvPr>
          <p:cNvSpPr>
            <a:spLocks noGrp="1"/>
          </p:cNvSpPr>
          <p:nvPr/>
        </p:nvSpPr>
        <p:spPr>
          <a:xfrm>
            <a:off x="2609850" y="4400550"/>
            <a:ext cx="2857500" cy="38100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B29979A-4A61-4B6C-80B7-930EF17CB7AA}"/>
              </a:ext>
            </a:extLst>
          </p:cNvPr>
          <p:cNvSpPr>
            <a:spLocks noGrp="1"/>
          </p:cNvSpPr>
          <p:nvPr/>
        </p:nvSpPr>
        <p:spPr>
          <a:xfrm>
            <a:off x="2705100" y="4486275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結果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3325E24-3C83-46D0-A52F-4CEC54E524C6}"/>
              </a:ext>
            </a:extLst>
          </p:cNvPr>
          <p:cNvSpPr>
            <a:spLocks noGrp="1"/>
          </p:cNvSpPr>
          <p:nvPr/>
        </p:nvSpPr>
        <p:spPr>
          <a:xfrm>
            <a:off x="5467350" y="4400550"/>
            <a:ext cx="3429000" cy="38100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AD60759-AF15-4F7C-8CE9-B705E6A2CEED}"/>
              </a:ext>
            </a:extLst>
          </p:cNvPr>
          <p:cNvSpPr>
            <a:spLocks noGrp="1"/>
          </p:cNvSpPr>
          <p:nvPr/>
        </p:nvSpPr>
        <p:spPr>
          <a:xfrm>
            <a:off x="5562600" y="4486275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修正/備註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77EE563-1651-485A-9BB3-E223153C200E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017D06A-B970-4BF8-9B2A-22A674AF9CA6}"/>
              </a:ext>
            </a:extLst>
          </p:cNvPr>
          <p:cNvSpPr>
            <a:spLocks noGrp="1"/>
          </p:cNvSpPr>
          <p:nvPr/>
        </p:nvSpPr>
        <p:spPr>
          <a:xfrm>
            <a:off x="704850" y="486727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跑版與分頁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E37009C-E8FF-46D2-A589-E83EC027390A}"/>
              </a:ext>
            </a:extLst>
          </p:cNvPr>
          <p:cNvSpPr>
            <a:spLocks noGrp="1"/>
          </p:cNvSpPr>
          <p:nvPr/>
        </p:nvSpPr>
        <p:spPr>
          <a:xfrm>
            <a:off x="2609850" y="4781550"/>
            <a:ext cx="2857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3FB322-7FF6-4BBD-8013-E4B898827F3D}"/>
              </a:ext>
            </a:extLst>
          </p:cNvPr>
          <p:cNvSpPr>
            <a:spLocks noGrp="1"/>
          </p:cNvSpPr>
          <p:nvPr/>
        </p:nvSpPr>
        <p:spPr>
          <a:xfrm>
            <a:off x="2705100" y="4867275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發現兩個孤立標題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8EB982A-388D-4BFD-9D14-66349840F2CB}"/>
              </a:ext>
            </a:extLst>
          </p:cNvPr>
          <p:cNvSpPr>
            <a:spLocks noGrp="1"/>
          </p:cNvSpPr>
          <p:nvPr/>
        </p:nvSpPr>
        <p:spPr>
          <a:xfrm>
            <a:off x="5467350" y="4781550"/>
            <a:ext cx="3429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94AA240-9EB5-4AE4-AB18-F28A1E28F2EE}"/>
              </a:ext>
            </a:extLst>
          </p:cNvPr>
          <p:cNvSpPr>
            <a:spLocks noGrp="1"/>
          </p:cNvSpPr>
          <p:nvPr/>
        </p:nvSpPr>
        <p:spPr>
          <a:xfrm>
            <a:off x="5562600" y="4867275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已用分頁規則修正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C31A036-05B3-4B43-AB7F-958712E627CD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D5015A3-D06C-41C2-89F7-F42C88A5EB77}"/>
              </a:ext>
            </a:extLst>
          </p:cNvPr>
          <p:cNvSpPr>
            <a:spLocks noGrp="1"/>
          </p:cNvSpPr>
          <p:nvPr/>
        </p:nvSpPr>
        <p:spPr>
          <a:xfrm>
            <a:off x="704850" y="524827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印刷清楚度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382AD9E-734C-4044-B817-0D06BE701772}"/>
              </a:ext>
            </a:extLst>
          </p:cNvPr>
          <p:cNvSpPr>
            <a:spLocks noGrp="1"/>
          </p:cNvSpPr>
          <p:nvPr/>
        </p:nvSpPr>
        <p:spPr>
          <a:xfrm>
            <a:off x="2609850" y="5162550"/>
            <a:ext cx="2857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C10E753-4D93-43C9-ACF3-55C4C5275CD2}"/>
              </a:ext>
            </a:extLst>
          </p:cNvPr>
          <p:cNvSpPr>
            <a:spLocks noGrp="1"/>
          </p:cNvSpPr>
          <p:nvPr/>
        </p:nvSpPr>
        <p:spPr>
          <a:xfrm>
            <a:off x="2705100" y="5248275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截圖與表格可讀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64205BB-E834-4DAE-9C41-A9764F059F8B}"/>
              </a:ext>
            </a:extLst>
          </p:cNvPr>
          <p:cNvSpPr>
            <a:spLocks noGrp="1"/>
          </p:cNvSpPr>
          <p:nvPr/>
        </p:nvSpPr>
        <p:spPr>
          <a:xfrm>
            <a:off x="5467350" y="5162550"/>
            <a:ext cx="3429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4788532-FE2A-49E0-9FFE-4EA65600D4A4}"/>
              </a:ext>
            </a:extLst>
          </p:cNvPr>
          <p:cNvSpPr>
            <a:spLocks noGrp="1"/>
          </p:cNvSpPr>
          <p:nvPr/>
        </p:nvSpPr>
        <p:spPr>
          <a:xfrm>
            <a:off x="5562600" y="5248275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維持 A4 PDF 輸出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F34D2A-C0FA-42E5-91C1-FAB5D16DF14A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2000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25FE68A-981B-42CC-BFA0-C5012DE6E707}"/>
              </a:ext>
            </a:extLst>
          </p:cNvPr>
          <p:cNvSpPr>
            <a:spLocks noGrp="1"/>
          </p:cNvSpPr>
          <p:nvPr/>
        </p:nvSpPr>
        <p:spPr>
          <a:xfrm>
            <a:off x="704850" y="5629275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字體一致性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B975D4C-8977-4836-A383-4E5B31AB74DF}"/>
              </a:ext>
            </a:extLst>
          </p:cNvPr>
          <p:cNvSpPr>
            <a:spLocks noGrp="1"/>
          </p:cNvSpPr>
          <p:nvPr/>
        </p:nvSpPr>
        <p:spPr>
          <a:xfrm>
            <a:off x="2609850" y="5543550"/>
            <a:ext cx="2857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53BB715-6030-46FC-B649-2690A2D8CE10}"/>
              </a:ext>
            </a:extLst>
          </p:cNvPr>
          <p:cNvSpPr>
            <a:spLocks noGrp="1"/>
          </p:cNvSpPr>
          <p:nvPr/>
        </p:nvSpPr>
        <p:spPr>
          <a:xfrm>
            <a:off x="2705100" y="5629275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整體採同一中文字體系統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F3CCEA1-BEEE-42F0-B0D7-2CC0E8AB122E}"/>
              </a:ext>
            </a:extLst>
          </p:cNvPr>
          <p:cNvSpPr>
            <a:spLocks noGrp="1"/>
          </p:cNvSpPr>
          <p:nvPr/>
        </p:nvSpPr>
        <p:spPr>
          <a:xfrm>
            <a:off x="5467350" y="5543550"/>
            <a:ext cx="3429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FA82CA5-ED69-42BC-958B-6A28C12E853B}"/>
              </a:ext>
            </a:extLst>
          </p:cNvPr>
          <p:cNvSpPr>
            <a:spLocks noGrp="1"/>
          </p:cNvSpPr>
          <p:nvPr/>
        </p:nvSpPr>
        <p:spPr>
          <a:xfrm>
            <a:off x="5562600" y="5629275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簡報亦延續同樣字體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4DDCC07-1A0F-4DA6-A3E1-329143ECE5FC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結論：PDF 已重新輸出；簡報版採用更適合口頭展示的節奏重新整理。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420CB5E-476E-4A66-9046-76C1EBF60C0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FC7D60A-89FD-45B5-B38B-4AFB4139D92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4664876-0FD0-458C-BA91-D84D361B2C33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1762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F9651732-F8E8-431D-BCA2-CDDD29EE56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17F511-6653-4E95-893A-F6E5DE73525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INTERFACE MAP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A40BDC-7F19-4694-8658-1D6689FF98D5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7620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主畫面可拆成六個遊戲區塊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41F194-FE52-43FC-B30B-A667E710794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新玩家先看狀態，再看場景與可操作入口。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2241AB-2C23-42B6-807F-F16EB35746CB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287000" cy="190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rcRect t="113" b="113"/>
          <a:stretch>
            <a:fillRect/>
          </a:stretch>
        </p:blipFill>
        <p:spPr>
          <a:xfrm>
            <a:off x="609600" y="2152650"/>
            <a:ext cx="7239000" cy="3562350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00FD011C-37FE-45CA-8935-C19BE34DC29D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8236A7-622B-4B65-BE97-FC296D1F84FE}"/>
              </a:ext>
            </a:extLst>
          </p:cNvPr>
          <p:cNvSpPr>
            <a:spLocks noGrp="1"/>
          </p:cNvSpPr>
          <p:nvPr/>
        </p:nvSpPr>
        <p:spPr>
          <a:xfrm>
            <a:off x="838200" y="24479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F524712-30A3-4C9C-8666-85E87F7064CE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9B1F34-2F2D-47D4-A757-78D9D027EF03}"/>
              </a:ext>
            </a:extLst>
          </p:cNvPr>
          <p:cNvSpPr>
            <a:spLocks noGrp="1"/>
          </p:cNvSpPr>
          <p:nvPr/>
        </p:nvSpPr>
        <p:spPr>
          <a:xfrm>
            <a:off x="800100" y="37623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E179D7D-93E7-40D7-96C7-7E018E4E9879}"/>
              </a:ext>
            </a:extLst>
          </p:cNvPr>
          <p:cNvSpPr>
            <a:spLocks noGrp="1"/>
          </p:cNvSpPr>
          <p:nvPr/>
        </p:nvSpPr>
        <p:spPr>
          <a:xfrm>
            <a:off x="3581400" y="403860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103BBA-CC18-4888-B266-A7E8724684A8}"/>
              </a:ext>
            </a:extLst>
          </p:cNvPr>
          <p:cNvSpPr>
            <a:spLocks noGrp="1"/>
          </p:cNvSpPr>
          <p:nvPr/>
        </p:nvSpPr>
        <p:spPr>
          <a:xfrm>
            <a:off x="3581400" y="40671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ADA023F-D7F2-4304-8A96-533FD650C36E}"/>
              </a:ext>
            </a:extLst>
          </p:cNvPr>
          <p:cNvSpPr>
            <a:spLocks noGrp="1"/>
          </p:cNvSpPr>
          <p:nvPr/>
        </p:nvSpPr>
        <p:spPr>
          <a:xfrm>
            <a:off x="6962775" y="238125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4D8964-F2D6-4D00-9A9D-A184880053F4}"/>
              </a:ext>
            </a:extLst>
          </p:cNvPr>
          <p:cNvSpPr>
            <a:spLocks noGrp="1"/>
          </p:cNvSpPr>
          <p:nvPr/>
        </p:nvSpPr>
        <p:spPr>
          <a:xfrm>
            <a:off x="6962775" y="24098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11C9BD39-6891-4C99-8EB0-5C4564C65D85}"/>
              </a:ext>
            </a:extLst>
          </p:cNvPr>
          <p:cNvSpPr>
            <a:spLocks noGrp="1"/>
          </p:cNvSpPr>
          <p:nvPr/>
        </p:nvSpPr>
        <p:spPr>
          <a:xfrm>
            <a:off x="7277100" y="392430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19ED0B-D71B-45DD-B04D-7626FB4374BF}"/>
              </a:ext>
            </a:extLst>
          </p:cNvPr>
          <p:cNvSpPr>
            <a:spLocks noGrp="1"/>
          </p:cNvSpPr>
          <p:nvPr/>
        </p:nvSpPr>
        <p:spPr>
          <a:xfrm>
            <a:off x="7277100" y="39528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BAFC13E-5AC8-4865-8A07-E814E514FBD4}"/>
              </a:ext>
            </a:extLst>
          </p:cNvPr>
          <p:cNvSpPr>
            <a:spLocks noGrp="1"/>
          </p:cNvSpPr>
          <p:nvPr/>
        </p:nvSpPr>
        <p:spPr>
          <a:xfrm>
            <a:off x="4124325" y="516255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5C86E3-91AE-4016-A133-3F2BD1D4523F}"/>
              </a:ext>
            </a:extLst>
          </p:cNvPr>
          <p:cNvSpPr>
            <a:spLocks noGrp="1"/>
          </p:cNvSpPr>
          <p:nvPr/>
        </p:nvSpPr>
        <p:spPr>
          <a:xfrm>
            <a:off x="4124325" y="51911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F594A0-0FB0-4601-AC82-4D99C19AFA27}"/>
              </a:ext>
            </a:extLst>
          </p:cNvPr>
          <p:cNvSpPr>
            <a:spLocks noGrp="1"/>
          </p:cNvSpPr>
          <p:nvPr/>
        </p:nvSpPr>
        <p:spPr>
          <a:xfrm>
            <a:off x="8229600" y="2209800"/>
            <a:ext cx="3143250" cy="43815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1F5DAA5B-8DC9-4ED2-B7F4-C05C99833043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3D252F-ED98-4272-BDE2-DC3644AAC699}"/>
              </a:ext>
            </a:extLst>
          </p:cNvPr>
          <p:cNvSpPr>
            <a:spLocks noGrp="1"/>
          </p:cNvSpPr>
          <p:nvPr/>
        </p:nvSpPr>
        <p:spPr>
          <a:xfrm>
            <a:off x="8362950" y="23145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E51185-3A28-4B88-A9E8-E288948DBA5D}"/>
              </a:ext>
            </a:extLst>
          </p:cNvPr>
          <p:cNvSpPr>
            <a:spLocks noGrp="1"/>
          </p:cNvSpPr>
          <p:nvPr/>
        </p:nvSpPr>
        <p:spPr>
          <a:xfrm>
            <a:off x="8743950" y="227647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玩家狀態卡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D6C541-97A4-483A-B421-0701852F279E}"/>
              </a:ext>
            </a:extLst>
          </p:cNvPr>
          <p:cNvSpPr>
            <a:spLocks noGrp="1"/>
          </p:cNvSpPr>
          <p:nvPr/>
        </p:nvSpPr>
        <p:spPr>
          <a:xfrm>
            <a:off x="8743950" y="246697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名稱、等級、進度條、金幣、XP。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3FCB1E8-A690-49AF-9327-30614477F935}"/>
              </a:ext>
            </a:extLst>
          </p:cNvPr>
          <p:cNvSpPr>
            <a:spLocks noGrp="1"/>
          </p:cNvSpPr>
          <p:nvPr/>
        </p:nvSpPr>
        <p:spPr>
          <a:xfrm>
            <a:off x="8229600" y="2762250"/>
            <a:ext cx="3143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07F8D0F-A8A6-449F-AA91-48E49FF887D9}"/>
              </a:ext>
            </a:extLst>
          </p:cNvPr>
          <p:cNvSpPr>
            <a:spLocks noGrp="1"/>
          </p:cNvSpPr>
          <p:nvPr/>
        </p:nvSpPr>
        <p:spPr>
          <a:xfrm>
            <a:off x="8362950" y="283845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7A03FE-AAA6-4EB7-ADE5-4A1D88BEBE43}"/>
              </a:ext>
            </a:extLst>
          </p:cNvPr>
          <p:cNvSpPr>
            <a:spLocks noGrp="1"/>
          </p:cNvSpPr>
          <p:nvPr/>
        </p:nvSpPr>
        <p:spPr>
          <a:xfrm>
            <a:off x="8362950" y="28670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B3012E-F85B-41D9-A3E3-E244D4D2F06E}"/>
              </a:ext>
            </a:extLst>
          </p:cNvPr>
          <p:cNvSpPr>
            <a:spLocks noGrp="1"/>
          </p:cNvSpPr>
          <p:nvPr/>
        </p:nvSpPr>
        <p:spPr>
          <a:xfrm>
            <a:off x="8743950" y="282892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左側遊戲入口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509267-B8BE-4B14-ADB1-530F50DBBF90}"/>
              </a:ext>
            </a:extLst>
          </p:cNvPr>
          <p:cNvSpPr>
            <a:spLocks noGrp="1"/>
          </p:cNvSpPr>
          <p:nvPr/>
        </p:nvSpPr>
        <p:spPr>
          <a:xfrm>
            <a:off x="8743950" y="301942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建造/編輯、物品、角色外觀。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FA79D4A-BAA8-49A5-AE11-FCBD9D065343}"/>
              </a:ext>
            </a:extLst>
          </p:cNvPr>
          <p:cNvSpPr>
            <a:spLocks noGrp="1"/>
          </p:cNvSpPr>
          <p:nvPr/>
        </p:nvSpPr>
        <p:spPr>
          <a:xfrm>
            <a:off x="8229600" y="3314700"/>
            <a:ext cx="3143250" cy="43815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B1CD697C-5387-4324-B3BB-41F5C04747A7}"/>
              </a:ext>
            </a:extLst>
          </p:cNvPr>
          <p:cNvSpPr>
            <a:spLocks noGrp="1"/>
          </p:cNvSpPr>
          <p:nvPr/>
        </p:nvSpPr>
        <p:spPr>
          <a:xfrm>
            <a:off x="8362950" y="339090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5DEADEA-BAF3-441D-B81A-07527C82D364}"/>
              </a:ext>
            </a:extLst>
          </p:cNvPr>
          <p:cNvSpPr>
            <a:spLocks noGrp="1"/>
          </p:cNvSpPr>
          <p:nvPr/>
        </p:nvSpPr>
        <p:spPr>
          <a:xfrm>
            <a:off x="8362950" y="34194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0FF907-88F6-4C36-9BCC-3CACDB8126F9}"/>
              </a:ext>
            </a:extLst>
          </p:cNvPr>
          <p:cNvSpPr>
            <a:spLocks noGrp="1"/>
          </p:cNvSpPr>
          <p:nvPr/>
        </p:nvSpPr>
        <p:spPr>
          <a:xfrm>
            <a:off x="8743950" y="338137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3D 島嶼場景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43B1C6-4E42-4788-875F-45BAB2F14B69}"/>
              </a:ext>
            </a:extLst>
          </p:cNvPr>
          <p:cNvSpPr>
            <a:spLocks noGrp="1"/>
          </p:cNvSpPr>
          <p:nvPr/>
        </p:nvSpPr>
        <p:spPr>
          <a:xfrm>
            <a:off x="8743950" y="357187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角色、建築、草地、河道與裝飾。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11ABA9B-75E5-42F8-8EED-A4B7A1BF7AC1}"/>
              </a:ext>
            </a:extLst>
          </p:cNvPr>
          <p:cNvSpPr>
            <a:spLocks noGrp="1"/>
          </p:cNvSpPr>
          <p:nvPr/>
        </p:nvSpPr>
        <p:spPr>
          <a:xfrm>
            <a:off x="8229600" y="3867150"/>
            <a:ext cx="3143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CFC7CFE2-02B2-4D48-B124-F4154643F6EF}"/>
              </a:ext>
            </a:extLst>
          </p:cNvPr>
          <p:cNvSpPr>
            <a:spLocks noGrp="1"/>
          </p:cNvSpPr>
          <p:nvPr/>
        </p:nvSpPr>
        <p:spPr>
          <a:xfrm>
            <a:off x="8362950" y="3943350"/>
            <a:ext cx="285750" cy="285750"/>
          </a:xfrm>
          <a:prstGeom prst="ellipse">
            <a:avLst/>
          </a:prstGeom>
          <a:solidFill>
            <a:srgbClr val="2F80ED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B5BAF2-323B-4F59-9F99-7F3BEB24A741}"/>
              </a:ext>
            </a:extLst>
          </p:cNvPr>
          <p:cNvSpPr>
            <a:spLocks noGrp="1"/>
          </p:cNvSpPr>
          <p:nvPr/>
        </p:nvSpPr>
        <p:spPr>
          <a:xfrm>
            <a:off x="8362950" y="39719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476EE5-C513-4C23-968E-FD9CB9260861}"/>
              </a:ext>
            </a:extLst>
          </p:cNvPr>
          <p:cNvSpPr>
            <a:spLocks noGrp="1"/>
          </p:cNvSpPr>
          <p:nvPr/>
        </p:nvSpPr>
        <p:spPr>
          <a:xfrm>
            <a:off x="8743950" y="393382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事件倒數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9CDCDE3-CD24-4E5D-B80B-E64B9D5D8DC1}"/>
              </a:ext>
            </a:extLst>
          </p:cNvPr>
          <p:cNvSpPr>
            <a:spLocks noGrp="1"/>
          </p:cNvSpPr>
          <p:nvPr/>
        </p:nvSpPr>
        <p:spPr>
          <a:xfrm>
            <a:off x="8743950" y="412432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瑞雪紛飛與剩餘秒數。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F923DDB-F463-4D9B-962C-244DD02AA070}"/>
              </a:ext>
            </a:extLst>
          </p:cNvPr>
          <p:cNvSpPr>
            <a:spLocks noGrp="1"/>
          </p:cNvSpPr>
          <p:nvPr/>
        </p:nvSpPr>
        <p:spPr>
          <a:xfrm>
            <a:off x="8229600" y="4419600"/>
            <a:ext cx="3143250" cy="43815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757D8050-5A64-48E6-AB8F-E51E282D6D55}"/>
              </a:ext>
            </a:extLst>
          </p:cNvPr>
          <p:cNvSpPr>
            <a:spLocks noGrp="1"/>
          </p:cNvSpPr>
          <p:nvPr/>
        </p:nvSpPr>
        <p:spPr>
          <a:xfrm>
            <a:off x="8362950" y="449580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1744531-4057-4CEF-B5A0-B56F8A7CEC77}"/>
              </a:ext>
            </a:extLst>
          </p:cNvPr>
          <p:cNvSpPr>
            <a:spLocks noGrp="1"/>
          </p:cNvSpPr>
          <p:nvPr/>
        </p:nvSpPr>
        <p:spPr>
          <a:xfrm>
            <a:off x="8362950" y="45243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33B33B2-B9B1-4F08-B237-B6C545541117}"/>
              </a:ext>
            </a:extLst>
          </p:cNvPr>
          <p:cNvSpPr>
            <a:spLocks noGrp="1"/>
          </p:cNvSpPr>
          <p:nvPr/>
        </p:nvSpPr>
        <p:spPr>
          <a:xfrm>
            <a:off x="8743950" y="448627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縮放控制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BE9B9E6-5229-452D-B14B-E52CB00EF7A0}"/>
              </a:ext>
            </a:extLst>
          </p:cNvPr>
          <p:cNvSpPr>
            <a:spLocks noGrp="1"/>
          </p:cNvSpPr>
          <p:nvPr/>
        </p:nvSpPr>
        <p:spPr>
          <a:xfrm>
            <a:off x="8743950" y="467677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放大、100%、縮小。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D9A3453-4C59-40C1-A4E8-D48502302C82}"/>
              </a:ext>
            </a:extLst>
          </p:cNvPr>
          <p:cNvSpPr>
            <a:spLocks noGrp="1"/>
          </p:cNvSpPr>
          <p:nvPr/>
        </p:nvSpPr>
        <p:spPr>
          <a:xfrm>
            <a:off x="8229600" y="4972050"/>
            <a:ext cx="3143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E9A7C171-A128-48B7-B897-9DCC500BF140}"/>
              </a:ext>
            </a:extLst>
          </p:cNvPr>
          <p:cNvSpPr>
            <a:spLocks noGrp="1"/>
          </p:cNvSpPr>
          <p:nvPr/>
        </p:nvSpPr>
        <p:spPr>
          <a:xfrm>
            <a:off x="8362950" y="5048250"/>
            <a:ext cx="285750" cy="285750"/>
          </a:xfrm>
          <a:prstGeom prst="ellipse">
            <a:avLst/>
          </a:prstGeom>
          <a:solidFill>
            <a:srgbClr val="16BFA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3FCC0B4-41AA-4E61-87EE-09121D99AC25}"/>
              </a:ext>
            </a:extLst>
          </p:cNvPr>
          <p:cNvSpPr>
            <a:spLocks noGrp="1"/>
          </p:cNvSpPr>
          <p:nvPr/>
        </p:nvSpPr>
        <p:spPr>
          <a:xfrm>
            <a:off x="8362950" y="50768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4AC6A40-E3A9-4E2E-80EB-3955E4231075}"/>
              </a:ext>
            </a:extLst>
          </p:cNvPr>
          <p:cNvSpPr>
            <a:spLocks noGrp="1"/>
          </p:cNvSpPr>
          <p:nvPr/>
        </p:nvSpPr>
        <p:spPr>
          <a:xfrm>
            <a:off x="8743950" y="503872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首頁狀態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820F7A0-84D2-40BF-8983-5B0DBF071459}"/>
              </a:ext>
            </a:extLst>
          </p:cNvPr>
          <p:cNvSpPr>
            <a:spLocks noGrp="1"/>
          </p:cNvSpPr>
          <p:nvPr/>
        </p:nvSpPr>
        <p:spPr>
          <a:xfrm>
            <a:off x="8743950" y="522922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底部主頁高亮，表示目前所在位置。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CC2ED9F-33F7-4F1B-AC9B-09DB3EB97D1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0DB357B-F573-4AB0-AFA7-1631F99F08B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541EF8D-2F16-4980-8EFE-BCAFBEE3322C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2645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5D3EFA5F-35A3-4BC7-9D6C-280AE0C55A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FCFED3-7C0F-4A4C-B8BF-8282D5C3F4A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FIRST RUN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034AA5-3EEA-4ABB-977E-3CE1BC61C70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7620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每日獎勵是進入主畫面的第一個短流程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8A8898-792F-4FB0-BADA-E3CB709D3D9C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它把玩家回訪、資源增加、首頁狀態卡連在一起。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463E9A-E9C4-4AC9-8886-99C74764AD5B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287000" cy="190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685DAC-6841-4F69-82A3-488BEAF0D04F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809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6C15E0F-C58F-4ED6-966D-4B05829FE403}"/>
              </a:ext>
            </a:extLst>
          </p:cNvPr>
          <p:cNvSpPr>
            <a:spLocks noGrp="1"/>
          </p:cNvSpPr>
          <p:nvPr/>
        </p:nvSpPr>
        <p:spPr>
          <a:xfrm>
            <a:off x="742950" y="2533650"/>
            <a:ext cx="323850" cy="323850"/>
          </a:xfrm>
          <a:prstGeom prst="ellipse">
            <a:avLst/>
          </a:prstGeom>
          <a:solidFill>
            <a:srgbClr val="16BFA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6D6733-F809-4D9C-9BBF-6844021CA718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08A3D1-F3F2-40B2-83D0-83A13CE48028}"/>
              </a:ext>
            </a:extLst>
          </p:cNvPr>
          <p:cNvSpPr>
            <a:spLocks noGrp="1"/>
          </p:cNvSpPr>
          <p:nvPr/>
        </p:nvSpPr>
        <p:spPr>
          <a:xfrm>
            <a:off x="1181100" y="2543175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開啟網址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8A33A7-0A2D-459E-9875-40362B2A8692}"/>
              </a:ext>
            </a:extLst>
          </p:cNvPr>
          <p:cNvSpPr>
            <a:spLocks noGrp="1"/>
          </p:cNvSpPr>
          <p:nvPr/>
        </p:nvSpPr>
        <p:spPr>
          <a:xfrm>
            <a:off x="781050" y="29337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載入網頁與玩家遊戲資料。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28894B-6645-4410-A137-C3F27398674B}"/>
              </a:ext>
            </a:extLst>
          </p:cNvPr>
          <p:cNvSpPr>
            <a:spLocks noGrp="1"/>
          </p:cNvSpPr>
          <p:nvPr/>
        </p:nvSpPr>
        <p:spPr>
          <a:xfrm>
            <a:off x="2476500" y="2933700"/>
            <a:ext cx="266700" cy="28575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240237-FD38-4A30-9255-9D1956DC3B22}"/>
              </a:ext>
            </a:extLst>
          </p:cNvPr>
          <p:cNvSpPr>
            <a:spLocks noGrp="1"/>
          </p:cNvSpPr>
          <p:nvPr/>
        </p:nvSpPr>
        <p:spPr>
          <a:xfrm>
            <a:off x="2838450" y="2400300"/>
            <a:ext cx="1809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FEE76D56-D059-42ED-8B6A-B00D15578C04}"/>
              </a:ext>
            </a:extLst>
          </p:cNvPr>
          <p:cNvSpPr>
            <a:spLocks noGrp="1"/>
          </p:cNvSpPr>
          <p:nvPr/>
        </p:nvSpPr>
        <p:spPr>
          <a:xfrm>
            <a:off x="2971800" y="2533650"/>
            <a:ext cx="323850" cy="323850"/>
          </a:xfrm>
          <a:prstGeom prst="ellipse">
            <a:avLst/>
          </a:prstGeom>
          <a:solidFill>
            <a:srgbClr val="16BFA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7F9AB4-38B0-4FDD-B876-5ECAF5DF4770}"/>
              </a:ext>
            </a:extLst>
          </p:cNvPr>
          <p:cNvSpPr>
            <a:spLocks noGrp="1"/>
          </p:cNvSpPr>
          <p:nvPr/>
        </p:nvSpPr>
        <p:spPr>
          <a:xfrm>
            <a:off x="2971800" y="259080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D8B086-05F0-4A20-83F1-B4F6E5E49713}"/>
              </a:ext>
            </a:extLst>
          </p:cNvPr>
          <p:cNvSpPr>
            <a:spLocks noGrp="1"/>
          </p:cNvSpPr>
          <p:nvPr/>
        </p:nvSpPr>
        <p:spPr>
          <a:xfrm>
            <a:off x="3409950" y="2543175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每日判斷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801D07-3E8B-4049-B86E-8C13B6A5DA08}"/>
              </a:ext>
            </a:extLst>
          </p:cNvPr>
          <p:cNvSpPr>
            <a:spLocks noGrp="1"/>
          </p:cNvSpPr>
          <p:nvPr/>
        </p:nvSpPr>
        <p:spPr>
          <a:xfrm>
            <a:off x="3009900" y="29337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檢查今天是否已領取。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FF3E6D-BEE8-45E7-91D7-127B9EFF0CB0}"/>
              </a:ext>
            </a:extLst>
          </p:cNvPr>
          <p:cNvSpPr>
            <a:spLocks noGrp="1"/>
          </p:cNvSpPr>
          <p:nvPr/>
        </p:nvSpPr>
        <p:spPr>
          <a:xfrm>
            <a:off x="4705350" y="2933700"/>
            <a:ext cx="266700" cy="28575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F201EF-D832-4E37-A311-29CE7F15848B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809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B201238-D885-4125-A64C-30AA1F1831E8}"/>
              </a:ext>
            </a:extLst>
          </p:cNvPr>
          <p:cNvSpPr>
            <a:spLocks noGrp="1"/>
          </p:cNvSpPr>
          <p:nvPr/>
        </p:nvSpPr>
        <p:spPr>
          <a:xfrm>
            <a:off x="5200650" y="2533650"/>
            <a:ext cx="323850" cy="323850"/>
          </a:xfrm>
          <a:prstGeom prst="ellipse">
            <a:avLst/>
          </a:prstGeom>
          <a:solidFill>
            <a:srgbClr val="16BFA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9AE632-8960-47B0-88CD-A7292266E602}"/>
              </a:ext>
            </a:extLst>
          </p:cNvPr>
          <p:cNvSpPr>
            <a:spLocks noGrp="1"/>
          </p:cNvSpPr>
          <p:nvPr/>
        </p:nvSpPr>
        <p:spPr>
          <a:xfrm>
            <a:off x="5200650" y="259080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A377F7-E7CC-44DE-A493-8E767DE3F339}"/>
              </a:ext>
            </a:extLst>
          </p:cNvPr>
          <p:cNvSpPr>
            <a:spLocks noGrp="1"/>
          </p:cNvSpPr>
          <p:nvPr/>
        </p:nvSpPr>
        <p:spPr>
          <a:xfrm>
            <a:off x="5638800" y="2543175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顯示獎勵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24709B-9967-4026-B62C-B1C26DC5534C}"/>
              </a:ext>
            </a:extLst>
          </p:cNvPr>
          <p:cNvSpPr>
            <a:spLocks noGrp="1"/>
          </p:cNvSpPr>
          <p:nvPr/>
        </p:nvSpPr>
        <p:spPr>
          <a:xfrm>
            <a:off x="5238750" y="29337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以彈窗或卡片提示可領內容。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ADA3C3-A96E-466E-8DAC-553B4E831077}"/>
              </a:ext>
            </a:extLst>
          </p:cNvPr>
          <p:cNvSpPr>
            <a:spLocks noGrp="1"/>
          </p:cNvSpPr>
          <p:nvPr/>
        </p:nvSpPr>
        <p:spPr>
          <a:xfrm>
            <a:off x="6934200" y="2933700"/>
            <a:ext cx="266700" cy="28575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4C9BD4-290C-42C3-B541-F46D6E3BC182}"/>
              </a:ext>
            </a:extLst>
          </p:cNvPr>
          <p:cNvSpPr>
            <a:spLocks noGrp="1"/>
          </p:cNvSpPr>
          <p:nvPr/>
        </p:nvSpPr>
        <p:spPr>
          <a:xfrm>
            <a:off x="7296150" y="2400300"/>
            <a:ext cx="1809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B43A649-E6B0-467B-ACD5-9CE12E38BF4E}"/>
              </a:ext>
            </a:extLst>
          </p:cNvPr>
          <p:cNvSpPr>
            <a:spLocks noGrp="1"/>
          </p:cNvSpPr>
          <p:nvPr/>
        </p:nvSpPr>
        <p:spPr>
          <a:xfrm>
            <a:off x="7429500" y="2533650"/>
            <a:ext cx="323850" cy="323850"/>
          </a:xfrm>
          <a:prstGeom prst="ellipse">
            <a:avLst/>
          </a:prstGeom>
          <a:solidFill>
            <a:srgbClr val="16BFA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48F697-A6A5-4101-906B-DD5BA90FB5DB}"/>
              </a:ext>
            </a:extLst>
          </p:cNvPr>
          <p:cNvSpPr>
            <a:spLocks noGrp="1"/>
          </p:cNvSpPr>
          <p:nvPr/>
        </p:nvSpPr>
        <p:spPr>
          <a:xfrm>
            <a:off x="7429500" y="259080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68B394-D439-4A04-A578-F151EFF5B31E}"/>
              </a:ext>
            </a:extLst>
          </p:cNvPr>
          <p:cNvSpPr>
            <a:spLocks noGrp="1"/>
          </p:cNvSpPr>
          <p:nvPr/>
        </p:nvSpPr>
        <p:spPr>
          <a:xfrm>
            <a:off x="7867650" y="2543175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更新資源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F910C5-1C36-4E22-ACB4-8F49A61F1546}"/>
              </a:ext>
            </a:extLst>
          </p:cNvPr>
          <p:cNvSpPr>
            <a:spLocks noGrp="1"/>
          </p:cNvSpPr>
          <p:nvPr/>
        </p:nvSpPr>
        <p:spPr>
          <a:xfrm>
            <a:off x="7467600" y="29337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加入金幣、XP 或道具。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16AE221-CE28-49C0-BDEF-B788495518F5}"/>
              </a:ext>
            </a:extLst>
          </p:cNvPr>
          <p:cNvSpPr>
            <a:spLocks noGrp="1"/>
          </p:cNvSpPr>
          <p:nvPr/>
        </p:nvSpPr>
        <p:spPr>
          <a:xfrm>
            <a:off x="9163050" y="2933700"/>
            <a:ext cx="266700" cy="28575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8BC6DD8-AD86-46FE-915E-9F2E7610F15D}"/>
              </a:ext>
            </a:extLst>
          </p:cNvPr>
          <p:cNvSpPr>
            <a:spLocks noGrp="1"/>
          </p:cNvSpPr>
          <p:nvPr/>
        </p:nvSpPr>
        <p:spPr>
          <a:xfrm>
            <a:off x="9525000" y="2400300"/>
            <a:ext cx="18097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FBA5978D-B6E6-43CC-9732-D238B683422E}"/>
              </a:ext>
            </a:extLst>
          </p:cNvPr>
          <p:cNvSpPr>
            <a:spLocks noGrp="1"/>
          </p:cNvSpPr>
          <p:nvPr/>
        </p:nvSpPr>
        <p:spPr>
          <a:xfrm>
            <a:off x="9658350" y="2533650"/>
            <a:ext cx="323850" cy="323850"/>
          </a:xfrm>
          <a:prstGeom prst="ellipse">
            <a:avLst/>
          </a:prstGeom>
          <a:solidFill>
            <a:srgbClr val="16BFA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57B06A-3560-4CD1-8A47-58DB1BE51EE5}"/>
              </a:ext>
            </a:extLst>
          </p:cNvPr>
          <p:cNvSpPr>
            <a:spLocks noGrp="1"/>
          </p:cNvSpPr>
          <p:nvPr/>
        </p:nvSpPr>
        <p:spPr>
          <a:xfrm>
            <a:off x="9658350" y="2590800"/>
            <a:ext cx="323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02F20D2-913F-4DAC-977B-75CF95D07214}"/>
              </a:ext>
            </a:extLst>
          </p:cNvPr>
          <p:cNvSpPr>
            <a:spLocks noGrp="1"/>
          </p:cNvSpPr>
          <p:nvPr/>
        </p:nvSpPr>
        <p:spPr>
          <a:xfrm>
            <a:off x="10096500" y="2543175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回到首頁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AF0C5F-21A6-4B0B-889E-17A91468B870}"/>
              </a:ext>
            </a:extLst>
          </p:cNvPr>
          <p:cNvSpPr>
            <a:spLocks noGrp="1"/>
          </p:cNvSpPr>
          <p:nvPr/>
        </p:nvSpPr>
        <p:spPr>
          <a:xfrm>
            <a:off x="9696450" y="2933700"/>
            <a:ext cx="1466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玩家開始探索島嶼。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F5DA907-CF52-40FF-B1CD-8D3D39124756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5143500" cy="1428750"/>
          </a:xfrm>
          <a:prstGeom prst="rect">
            <a:avLst/>
          </a:prstGeom>
          <a:solidFill>
            <a:srgbClr val="E7F7F3"/>
          </a:solidFill>
          <a:ln w="9525">
            <a:solidFill>
              <a:srgbClr val="B8E7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436B8F5-FADB-4D11-AA66-1DCFF88E5757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對玩家的意義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4E59F3D-CD17-459C-A41E-56F20E047E6E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438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每日獎勵讓玩家一進來就得到回饋；如果金幣或 XP 馬上變動，玩家會更容易感受到進步。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CC0595D-7400-44AB-8401-8EF3F5FA87C6}"/>
              </a:ext>
            </a:extLst>
          </p:cNvPr>
          <p:cNvSpPr>
            <a:spLocks noGrp="1"/>
          </p:cNvSpPr>
          <p:nvPr/>
        </p:nvSpPr>
        <p:spPr>
          <a:xfrm>
            <a:off x="6134100" y="4095750"/>
            <a:ext cx="5143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D1C2F75-831D-4CFA-9D02-48FC4FFB0C0D}"/>
              </a:ext>
            </a:extLst>
          </p:cNvPr>
          <p:cNvSpPr>
            <a:spLocks noGrp="1"/>
          </p:cNvSpPr>
          <p:nvPr/>
        </p:nvSpPr>
        <p:spPr>
          <a:xfrm>
            <a:off x="6362700" y="4324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對系統的意義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CB6CE6B-FE76-4D99-8E6C-13A5E641532C}"/>
              </a:ext>
            </a:extLst>
          </p:cNvPr>
          <p:cNvSpPr>
            <a:spLocks noGrp="1"/>
          </p:cNvSpPr>
          <p:nvPr/>
        </p:nvSpPr>
        <p:spPr>
          <a:xfrm>
            <a:off x="6362700" y="4686300"/>
            <a:ext cx="438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資料層要記住今天是否已領；狀態層要控制彈窗是否顯示；UI 層要把資源變動更新到左上角。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6824ED-3343-4E6B-8FD5-9915A8E21EC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6B1AADA-B849-4B10-9ACC-AD24D7640BA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BD45C7C-D171-4DE1-9BD7-A59042DC004D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093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D7E9A662-7DAB-4D69-B894-8C90ABF6E5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AA933E-7FA0-4493-A675-D97D1E526BD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VISIBLE FUNCTIONS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FE51D4-248B-49EF-B0C9-D05657005FB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7620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首頁功能可以分成六類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1FE9B0-878B-4A7A-B3BE-5DBF3C89C6F7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每一類都對玩家理解與操作有不同作用。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A5C0EA-F007-44F3-BE2B-BFBD1EE4828B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287000" cy="190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209800"/>
            <a:ext cx="2247900" cy="12192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14281" y="3733800"/>
            <a:ext cx="590839" cy="169545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186706" y="3733800"/>
            <a:ext cx="655787" cy="16954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31D36AA8-BA6A-4FC8-AD54-B52451AE8F5B}"/>
              </a:ext>
            </a:extLst>
          </p:cNvPr>
          <p:cNvSpPr>
            <a:spLocks noGrp="1"/>
          </p:cNvSpPr>
          <p:nvPr/>
        </p:nvSpPr>
        <p:spPr>
          <a:xfrm>
            <a:off x="3295650" y="220980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65FCB0-D99D-412C-BBAB-F3608E0E0644}"/>
              </a:ext>
            </a:extLst>
          </p:cNvPr>
          <p:cNvSpPr>
            <a:spLocks noGrp="1"/>
          </p:cNvSpPr>
          <p:nvPr/>
        </p:nvSpPr>
        <p:spPr>
          <a:xfrm>
            <a:off x="3295650" y="2209800"/>
            <a:ext cx="2381250" cy="571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FEFC90-8BFD-4763-B4CD-D4DF4D8DF522}"/>
              </a:ext>
            </a:extLst>
          </p:cNvPr>
          <p:cNvSpPr>
            <a:spLocks noGrp="1"/>
          </p:cNvSpPr>
          <p:nvPr/>
        </p:nvSpPr>
        <p:spPr>
          <a:xfrm>
            <a:off x="3448050" y="23812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玩家狀態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4CF854-E06F-4A72-A672-5940A5C8C6B1}"/>
              </a:ext>
            </a:extLst>
          </p:cNvPr>
          <p:cNvSpPr>
            <a:spLocks noGrp="1"/>
          </p:cNvSpPr>
          <p:nvPr/>
        </p:nvSpPr>
        <p:spPr>
          <a:xfrm>
            <a:off x="3448050" y="2705100"/>
            <a:ext cx="2076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名稱、等級、進度條、金幣、XP 集中在左上角，讓玩家立即確認自己目前進度。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25FF3C-3927-4810-BFC9-488E6B48524E}"/>
              </a:ext>
            </a:extLst>
          </p:cNvPr>
          <p:cNvSpPr>
            <a:spLocks noGrp="1"/>
          </p:cNvSpPr>
          <p:nvPr/>
        </p:nvSpPr>
        <p:spPr>
          <a:xfrm>
            <a:off x="5943600" y="220980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13D1D2-9019-4CB5-A9B7-F43DDC3E7F77}"/>
              </a:ext>
            </a:extLst>
          </p:cNvPr>
          <p:cNvSpPr>
            <a:spLocks noGrp="1"/>
          </p:cNvSpPr>
          <p:nvPr/>
        </p:nvSpPr>
        <p:spPr>
          <a:xfrm>
            <a:off x="5943600" y="2209800"/>
            <a:ext cx="2381250" cy="57150"/>
          </a:xfrm>
          <a:prstGeom prst="rect">
            <a:avLst/>
          </a:prstGeom>
          <a:solidFill>
            <a:srgbClr val="2F80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2AEDA9-C2F8-4924-B502-76F53796588E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3D 世界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691726-E293-407C-98E7-16597A17D958}"/>
              </a:ext>
            </a:extLst>
          </p:cNvPr>
          <p:cNvSpPr>
            <a:spLocks noGrp="1"/>
          </p:cNvSpPr>
          <p:nvPr/>
        </p:nvSpPr>
        <p:spPr>
          <a:xfrm>
            <a:off x="6096000" y="2705100"/>
            <a:ext cx="2076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小島、建築、角色、海面與環境裝飾建立「可以探索的主基地」感。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AEACC7-EB8B-4617-BCF6-C098D55B2F12}"/>
              </a:ext>
            </a:extLst>
          </p:cNvPr>
          <p:cNvSpPr>
            <a:spLocks noGrp="1"/>
          </p:cNvSpPr>
          <p:nvPr/>
        </p:nvSpPr>
        <p:spPr>
          <a:xfrm>
            <a:off x="8591550" y="220980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D701A9-2BC6-4BF5-B926-C15117FE51D4}"/>
              </a:ext>
            </a:extLst>
          </p:cNvPr>
          <p:cNvSpPr>
            <a:spLocks noGrp="1"/>
          </p:cNvSpPr>
          <p:nvPr/>
        </p:nvSpPr>
        <p:spPr>
          <a:xfrm>
            <a:off x="8591550" y="2209800"/>
            <a:ext cx="2381250" cy="57150"/>
          </a:xfrm>
          <a:prstGeom prst="rect">
            <a:avLst/>
          </a:prstGeom>
          <a:solidFill>
            <a:srgbClr val="F2B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3B66EF-4D83-4224-9CD8-7B20AE12310C}"/>
              </a:ext>
            </a:extLst>
          </p:cNvPr>
          <p:cNvSpPr>
            <a:spLocks noGrp="1"/>
          </p:cNvSpPr>
          <p:nvPr/>
        </p:nvSpPr>
        <p:spPr>
          <a:xfrm>
            <a:off x="8743950" y="23812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遊戲入口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133D91-4D02-40D6-A45C-4C62FE800F5E}"/>
              </a:ext>
            </a:extLst>
          </p:cNvPr>
          <p:cNvSpPr>
            <a:spLocks noGrp="1"/>
          </p:cNvSpPr>
          <p:nvPr/>
        </p:nvSpPr>
        <p:spPr>
          <a:xfrm>
            <a:off x="8743950" y="2705100"/>
            <a:ext cx="2076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鎚子、袋子、衣服圖示看起來分別對應建造、物品與角色外觀。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A31D3B-466F-4DB5-8454-F34688EA9618}"/>
              </a:ext>
            </a:extLst>
          </p:cNvPr>
          <p:cNvSpPr>
            <a:spLocks noGrp="1"/>
          </p:cNvSpPr>
          <p:nvPr/>
        </p:nvSpPr>
        <p:spPr>
          <a:xfrm>
            <a:off x="3295650" y="371475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B1DCBA-6CB1-4164-91FB-07F671694BD2}"/>
              </a:ext>
            </a:extLst>
          </p:cNvPr>
          <p:cNvSpPr>
            <a:spLocks noGrp="1"/>
          </p:cNvSpPr>
          <p:nvPr/>
        </p:nvSpPr>
        <p:spPr>
          <a:xfrm>
            <a:off x="3295650" y="3714750"/>
            <a:ext cx="2381250" cy="57150"/>
          </a:xfrm>
          <a:prstGeom prst="rect">
            <a:avLst/>
          </a:prstGeom>
          <a:solidFill>
            <a:srgbClr val="2F80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ABE2013-356A-4C1D-ADA3-997D8C436DCE}"/>
              </a:ext>
            </a:extLst>
          </p:cNvPr>
          <p:cNvSpPr>
            <a:spLocks noGrp="1"/>
          </p:cNvSpPr>
          <p:nvPr/>
        </p:nvSpPr>
        <p:spPr>
          <a:xfrm>
            <a:off x="3448050" y="388620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事件提示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4C6586-A587-489B-9550-00B9562A0C0B}"/>
              </a:ext>
            </a:extLst>
          </p:cNvPr>
          <p:cNvSpPr>
            <a:spLocks noGrp="1"/>
          </p:cNvSpPr>
          <p:nvPr/>
        </p:nvSpPr>
        <p:spPr>
          <a:xfrm>
            <a:off x="3448050" y="4210050"/>
            <a:ext cx="2076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「瑞雪紛飛」與倒數秒數提醒玩家短期效果或活動正在進行。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438400-912B-431E-9C29-AE49BC8DDA09}"/>
              </a:ext>
            </a:extLst>
          </p:cNvPr>
          <p:cNvSpPr>
            <a:spLocks noGrp="1"/>
          </p:cNvSpPr>
          <p:nvPr/>
        </p:nvSpPr>
        <p:spPr>
          <a:xfrm>
            <a:off x="5943600" y="371475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5DE96E-CAE8-453A-A1E5-FFF31E251438}"/>
              </a:ext>
            </a:extLst>
          </p:cNvPr>
          <p:cNvSpPr>
            <a:spLocks noGrp="1"/>
          </p:cNvSpPr>
          <p:nvPr/>
        </p:nvSpPr>
        <p:spPr>
          <a:xfrm>
            <a:off x="5943600" y="3714750"/>
            <a:ext cx="2381250" cy="571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BC23B21-A1FE-4261-B7A8-A4016796A858}"/>
              </a:ext>
            </a:extLst>
          </p:cNvPr>
          <p:cNvSpPr>
            <a:spLocks noGrp="1"/>
          </p:cNvSpPr>
          <p:nvPr/>
        </p:nvSpPr>
        <p:spPr>
          <a:xfrm>
            <a:off x="6096000" y="388620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鏡頭控制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FE8AEF1-8110-4064-9050-FD3139DFF27D}"/>
              </a:ext>
            </a:extLst>
          </p:cNvPr>
          <p:cNvSpPr>
            <a:spLocks noGrp="1"/>
          </p:cNvSpPr>
          <p:nvPr/>
        </p:nvSpPr>
        <p:spPr>
          <a:xfrm>
            <a:off x="6096000" y="4210050"/>
            <a:ext cx="2076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右側加號、100%、減號讓玩家調整觀看距離，看細節或看全景。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E25F3F-C490-4E20-BBB7-A32684E7FA0A}"/>
              </a:ext>
            </a:extLst>
          </p:cNvPr>
          <p:cNvSpPr>
            <a:spLocks noGrp="1"/>
          </p:cNvSpPr>
          <p:nvPr/>
        </p:nvSpPr>
        <p:spPr>
          <a:xfrm>
            <a:off x="8591550" y="3714750"/>
            <a:ext cx="23812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0CDAD5-446D-40AD-B536-11BD1D103FF6}"/>
              </a:ext>
            </a:extLst>
          </p:cNvPr>
          <p:cNvSpPr>
            <a:spLocks noGrp="1"/>
          </p:cNvSpPr>
          <p:nvPr/>
        </p:nvSpPr>
        <p:spPr>
          <a:xfrm>
            <a:off x="8591550" y="3714750"/>
            <a:ext cx="2381250" cy="57150"/>
          </a:xfrm>
          <a:prstGeom prst="rect">
            <a:avLst/>
          </a:prstGeom>
          <a:solidFill>
            <a:srgbClr val="E56B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1D69A2-E715-42C8-BB65-8202719F522E}"/>
              </a:ext>
            </a:extLst>
          </p:cNvPr>
          <p:cNvSpPr>
            <a:spLocks noGrp="1"/>
          </p:cNvSpPr>
          <p:nvPr/>
        </p:nvSpPr>
        <p:spPr>
          <a:xfrm>
            <a:off x="8743950" y="388620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首頁導航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1FD54E-B30E-43DF-AF74-8FDA27DD8B61}"/>
              </a:ext>
            </a:extLst>
          </p:cNvPr>
          <p:cNvSpPr>
            <a:spLocks noGrp="1"/>
          </p:cNvSpPr>
          <p:nvPr/>
        </p:nvSpPr>
        <p:spPr>
          <a:xfrm>
            <a:off x="8743950" y="4210050"/>
            <a:ext cx="2076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底部主頁按鈕高亮，告訴玩家目前位於遊戲主畫面。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A7CDD2F-A69F-4BB7-9CE6-11ECD2F8B516}"/>
              </a:ext>
            </a:extLst>
          </p:cNvPr>
          <p:cNvSpPr>
            <a:spLocks noGrp="1"/>
          </p:cNvSpPr>
          <p:nvPr/>
        </p:nvSpPr>
        <p:spPr>
          <a:xfrm>
            <a:off x="3295650" y="5219700"/>
            <a:ext cx="742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缺口：純圖示很乾淨，但新玩家可能需要 hover 提示或新手導覽才會完全理解。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BB42CFA-D846-42DB-9F6A-D0EA3BC0D87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B5F63F-F870-4F91-8E6C-A81C4F023FD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59B465F-2BF5-4882-B373-532FFBE78091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2598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2327AFC9-EAC8-4017-BC08-12B7D865AF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19FBEA-42A0-40F1-9877-A9812C75BF7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TECH MODEL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A03D7C-E8F8-4170-A316-48EB1D6807E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7620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用四層理解前端互動邏輯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AF9490-C4A7-41DA-A6DE-3611AC978FB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資料像記憶，狀態像現在發生什麼，場景是世界，UI 是操作入口。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555DAA-5F4B-4C5F-9097-14FDEFC3FA75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287000" cy="190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15F81E-4AAF-4F5E-B411-6E2718F9C600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97008E-27AD-4882-8586-FD602DA262FA}"/>
              </a:ext>
            </a:extLst>
          </p:cNvPr>
          <p:cNvSpPr>
            <a:spLocks noGrp="1"/>
          </p:cNvSpPr>
          <p:nvPr/>
        </p:nvSpPr>
        <p:spPr>
          <a:xfrm>
            <a:off x="838200" y="2247900"/>
            <a:ext cx="114300" cy="91440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4C1D06-5DC0-4755-B695-7AC0A9EB6CCA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9A2AF2-26D2-4DE2-8A11-400D289F4C6A}"/>
              </a:ext>
            </a:extLst>
          </p:cNvPr>
          <p:cNvSpPr>
            <a:spLocks noGrp="1"/>
          </p:cNvSpPr>
          <p:nvPr/>
        </p:nvSpPr>
        <p:spPr>
          <a:xfrm>
            <a:off x="1581150" y="2419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資料層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F32096-6995-4744-8245-B8A7B9F3AFCA}"/>
              </a:ext>
            </a:extLst>
          </p:cNvPr>
          <p:cNvSpPr>
            <a:spLocks noGrp="1"/>
          </p:cNvSpPr>
          <p:nvPr/>
        </p:nvSpPr>
        <p:spPr>
          <a:xfrm>
            <a:off x="1581150" y="2771775"/>
            <a:ext cx="37719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玩家名稱、金幣、XP、每日獎勵紀錄、擁有道具、已保存外觀。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690AF0-41B2-491F-9EC4-D4519CCB3475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828906-654A-4A3A-99C3-B44F7F0F4E55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114300" cy="914400"/>
          </a:xfrm>
          <a:prstGeom prst="rect">
            <a:avLst/>
          </a:prstGeom>
          <a:solidFill>
            <a:srgbClr val="2F80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577F49-A63B-49DA-A438-8145ACBC1859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F80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80E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ACAD2D-B138-491A-8B3E-CE0F1AA69287}"/>
              </a:ext>
            </a:extLst>
          </p:cNvPr>
          <p:cNvSpPr>
            <a:spLocks noGrp="1"/>
          </p:cNvSpPr>
          <p:nvPr/>
        </p:nvSpPr>
        <p:spPr>
          <a:xfrm>
            <a:off x="1581150" y="3562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狀態邏輯層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C40A48-D662-4F13-8798-C2400E90D5CC}"/>
              </a:ext>
            </a:extLst>
          </p:cNvPr>
          <p:cNvSpPr>
            <a:spLocks noGrp="1"/>
          </p:cNvSpPr>
          <p:nvPr/>
        </p:nvSpPr>
        <p:spPr>
          <a:xfrm>
            <a:off x="1581150" y="3914775"/>
            <a:ext cx="37719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目前縮放比例、是否開啟彈窗、活動倒數、角色外觀與等級進度。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4B9A1C-39B0-4517-ADD3-3ABA1350F064}"/>
              </a:ext>
            </a:extLst>
          </p:cNvPr>
          <p:cNvSpPr>
            <a:spLocks noGrp="1"/>
          </p:cNvSpPr>
          <p:nvPr/>
        </p:nvSpPr>
        <p:spPr>
          <a:xfrm>
            <a:off x="6591300" y="2247900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383124B-1F34-4805-86DC-DE6EFE23E160}"/>
              </a:ext>
            </a:extLst>
          </p:cNvPr>
          <p:cNvSpPr>
            <a:spLocks noGrp="1"/>
          </p:cNvSpPr>
          <p:nvPr/>
        </p:nvSpPr>
        <p:spPr>
          <a:xfrm>
            <a:off x="6591300" y="2247900"/>
            <a:ext cx="114300" cy="914400"/>
          </a:xfrm>
          <a:prstGeom prst="rect">
            <a:avLst/>
          </a:prstGeom>
          <a:solidFill>
            <a:srgbClr val="F2B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96D7F7-25A4-42F1-9CDE-325552BCA76D}"/>
              </a:ext>
            </a:extLst>
          </p:cNvPr>
          <p:cNvSpPr>
            <a:spLocks noGrp="1"/>
          </p:cNvSpPr>
          <p:nvPr/>
        </p:nvSpPr>
        <p:spPr>
          <a:xfrm>
            <a:off x="6819900" y="243840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2B2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24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2DA76A-6763-4C86-90A6-F26991561CDB}"/>
              </a:ext>
            </a:extLst>
          </p:cNvPr>
          <p:cNvSpPr>
            <a:spLocks noGrp="1"/>
          </p:cNvSpPr>
          <p:nvPr/>
        </p:nvSpPr>
        <p:spPr>
          <a:xfrm>
            <a:off x="7334250" y="2419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3D 場景層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F6C7DC-6C2A-4751-BEF3-6CE5A92B6CE4}"/>
              </a:ext>
            </a:extLst>
          </p:cNvPr>
          <p:cNvSpPr>
            <a:spLocks noGrp="1"/>
          </p:cNvSpPr>
          <p:nvPr/>
        </p:nvSpPr>
        <p:spPr>
          <a:xfrm>
            <a:off x="7334250" y="2771775"/>
            <a:ext cx="37719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小島、角色、建築、環境裝飾，以及瑞雪紛飛等視覺效果。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8D41E1-601D-44DC-A911-7B8E3AC0CBB9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4762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4550CA-36A6-472D-A284-0A6D81133C86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114300" cy="914400"/>
          </a:xfrm>
          <a:prstGeom prst="rect">
            <a:avLst/>
          </a:prstGeom>
          <a:solidFill>
            <a:srgbClr val="E56B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F0F8A5-7D1C-4EAC-81BE-4202CC16874C}"/>
              </a:ext>
            </a:extLst>
          </p:cNvPr>
          <p:cNvSpPr>
            <a:spLocks noGrp="1"/>
          </p:cNvSpPr>
          <p:nvPr/>
        </p:nvSpPr>
        <p:spPr>
          <a:xfrm>
            <a:off x="6819900" y="3581400"/>
            <a:ext cx="400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56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56B4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CB4A169-922B-48B7-8FED-71E2F03D2220}"/>
              </a:ext>
            </a:extLst>
          </p:cNvPr>
          <p:cNvSpPr>
            <a:spLocks noGrp="1"/>
          </p:cNvSpPr>
          <p:nvPr/>
        </p:nvSpPr>
        <p:spPr>
          <a:xfrm>
            <a:off x="7334250" y="35623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UI 顯示層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F35E2C-4085-4D19-B8C1-943232982149}"/>
              </a:ext>
            </a:extLst>
          </p:cNvPr>
          <p:cNvSpPr>
            <a:spLocks noGrp="1"/>
          </p:cNvSpPr>
          <p:nvPr/>
        </p:nvSpPr>
        <p:spPr>
          <a:xfrm>
            <a:off x="7334250" y="3914775"/>
            <a:ext cx="37719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玩家狀態卡、左側按鈕、事件倒數、縮放控制、首頁高亮。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6B059A-6DAA-43F9-AC76-01B4C1F306A3}"/>
              </a:ext>
            </a:extLst>
          </p:cNvPr>
          <p:cNvSpPr>
            <a:spLocks noGrp="1"/>
          </p:cNvSpPr>
          <p:nvPr/>
        </p:nvSpPr>
        <p:spPr>
          <a:xfrm>
            <a:off x="5619750" y="2895600"/>
            <a:ext cx="933450" cy="28575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9429F4F-CA86-4B8E-8893-5553C6AB25A3}"/>
              </a:ext>
            </a:extLst>
          </p:cNvPr>
          <p:cNvSpPr>
            <a:spLocks noGrp="1"/>
          </p:cNvSpPr>
          <p:nvPr/>
        </p:nvSpPr>
        <p:spPr>
          <a:xfrm>
            <a:off x="5619750" y="4038600"/>
            <a:ext cx="933450" cy="28575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252658-ED13-4CB8-B17B-40C3F78221AF}"/>
              </a:ext>
            </a:extLst>
          </p:cNvPr>
          <p:cNvSpPr>
            <a:spLocks noGrp="1"/>
          </p:cNvSpPr>
          <p:nvPr/>
        </p:nvSpPr>
        <p:spPr>
          <a:xfrm>
            <a:off x="10858500" y="3162300"/>
            <a:ext cx="28575" cy="22860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B82326-8465-44EC-9495-EC09223093DA}"/>
              </a:ext>
            </a:extLst>
          </p:cNvPr>
          <p:cNvSpPr>
            <a:spLocks noGrp="1"/>
          </p:cNvSpPr>
          <p:nvPr/>
        </p:nvSpPr>
        <p:spPr>
          <a:xfrm>
            <a:off x="6076950" y="3162300"/>
            <a:ext cx="28575" cy="22860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B76E66B-167F-4222-9755-F00FA115636C}"/>
              </a:ext>
            </a:extLst>
          </p:cNvPr>
          <p:cNvSpPr>
            <a:spLocks noGrp="1"/>
          </p:cNvSpPr>
          <p:nvPr/>
        </p:nvSpPr>
        <p:spPr>
          <a:xfrm>
            <a:off x="2038350" y="4876800"/>
            <a:ext cx="8096250" cy="781050"/>
          </a:xfrm>
          <a:prstGeom prst="rect">
            <a:avLst/>
          </a:prstGeom>
          <a:solidFill>
            <a:srgbClr val="E7F7F3"/>
          </a:solidFill>
          <a:ln w="9525">
            <a:solidFill>
              <a:srgbClr val="B8E7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0C20FBD-4FA5-4C5F-AFA6-8C1062669581}"/>
              </a:ext>
            </a:extLst>
          </p:cNvPr>
          <p:cNvSpPr>
            <a:spLocks noGrp="1"/>
          </p:cNvSpPr>
          <p:nvPr/>
        </p:nvSpPr>
        <p:spPr>
          <a:xfrm>
            <a:off x="2324100" y="5143500"/>
            <a:ext cx="752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例子：玩家領每日獎勵 → 資料裡金幣增加 → 狀態記錄今天已領 → 左上角金幣數字更新。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ECAD5C1-DF7A-4A12-AEF6-6AEB2744446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6D133B-1BB7-4733-A40C-428520CA0D3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7BB88B-82B1-42C0-AFEF-9BC146E4F0D0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4204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5B80568C-B442-4EE1-A12A-74FB5E5551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02BF21-2D54-4A04-97BB-C9183D72E56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STATE + FEEDBACK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452400-C830-40F5-8C0D-84B5AE087AE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7620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每個操作都應該立刻給玩家看得見的回饋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3C8338-58E4-40B9-A6B9-17788D503C0A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好的遊戲介面不只讓玩家點，也要讓玩家知道點了之後發生什麼。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356544-9C27-4F93-B64A-6DC995651B9F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287000" cy="190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B7A1B1-4600-4E25-B4A4-3F9877CA1630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238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14BFE7-88E0-419C-A740-103768338118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238500" cy="571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6BD951-A862-42C0-9182-E80A127EB7A3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玩家資料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34E696-9A13-4483-B133-73C9942FF906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2933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名稱、等級、金幣、XP。這些需要保存，重新開啟網頁後仍應存在。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E5E9F5-8962-45A0-9784-8045F44FCC30}"/>
              </a:ext>
            </a:extLst>
          </p:cNvPr>
          <p:cNvSpPr>
            <a:spLocks noGrp="1"/>
          </p:cNvSpPr>
          <p:nvPr/>
        </p:nvSpPr>
        <p:spPr>
          <a:xfrm>
            <a:off x="4476750" y="2266950"/>
            <a:ext cx="3238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D839CE-FDB4-4E4A-8FCE-F08E4345A319}"/>
              </a:ext>
            </a:extLst>
          </p:cNvPr>
          <p:cNvSpPr>
            <a:spLocks noGrp="1"/>
          </p:cNvSpPr>
          <p:nvPr/>
        </p:nvSpPr>
        <p:spPr>
          <a:xfrm>
            <a:off x="4476750" y="2266950"/>
            <a:ext cx="3238500" cy="57150"/>
          </a:xfrm>
          <a:prstGeom prst="rect">
            <a:avLst/>
          </a:prstGeom>
          <a:solidFill>
            <a:srgbClr val="2F80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296286-9A64-40CD-8876-F36BE717A092}"/>
              </a:ext>
            </a:extLst>
          </p:cNvPr>
          <p:cNvSpPr>
            <a:spLocks noGrp="1"/>
          </p:cNvSpPr>
          <p:nvPr/>
        </p:nvSpPr>
        <p:spPr>
          <a:xfrm>
            <a:off x="4629150" y="240030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畫面狀態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7F9310-2A5A-429E-AC43-A5F67F2DD20A}"/>
              </a:ext>
            </a:extLst>
          </p:cNvPr>
          <p:cNvSpPr>
            <a:spLocks noGrp="1"/>
          </p:cNvSpPr>
          <p:nvPr/>
        </p:nvSpPr>
        <p:spPr>
          <a:xfrm>
            <a:off x="4629150" y="2705100"/>
            <a:ext cx="2933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目前是否顯示彈窗、哪個按鈕被選取、縮放比例。這些是使用中的暫時狀態。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C60E7F-F484-4511-A600-A1DBEF37FEA4}"/>
              </a:ext>
            </a:extLst>
          </p:cNvPr>
          <p:cNvSpPr>
            <a:spLocks noGrp="1"/>
          </p:cNvSpPr>
          <p:nvPr/>
        </p:nvSpPr>
        <p:spPr>
          <a:xfrm>
            <a:off x="8343900" y="2266950"/>
            <a:ext cx="3238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A29AC1-D7B8-403C-B61C-A77935162847}"/>
              </a:ext>
            </a:extLst>
          </p:cNvPr>
          <p:cNvSpPr>
            <a:spLocks noGrp="1"/>
          </p:cNvSpPr>
          <p:nvPr/>
        </p:nvSpPr>
        <p:spPr>
          <a:xfrm>
            <a:off x="8343900" y="2266950"/>
            <a:ext cx="3238500" cy="57150"/>
          </a:xfrm>
          <a:prstGeom prst="rect">
            <a:avLst/>
          </a:prstGeom>
          <a:solidFill>
            <a:srgbClr val="F2B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FFB54A-CA3B-41AD-822C-09399CD5EA9F}"/>
              </a:ext>
            </a:extLst>
          </p:cNvPr>
          <p:cNvSpPr>
            <a:spLocks noGrp="1"/>
          </p:cNvSpPr>
          <p:nvPr/>
        </p:nvSpPr>
        <p:spPr>
          <a:xfrm>
            <a:off x="8496300" y="240030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事件狀態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2F94A1-1048-4A54-9481-8BFA67120817}"/>
              </a:ext>
            </a:extLst>
          </p:cNvPr>
          <p:cNvSpPr>
            <a:spLocks noGrp="1"/>
          </p:cNvSpPr>
          <p:nvPr/>
        </p:nvSpPr>
        <p:spPr>
          <a:xfrm>
            <a:off x="8496300" y="2705100"/>
            <a:ext cx="2933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像「瑞雪紛飛」這種倒數效果，需要每秒更新剩餘時間。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5FDC0F-5DFF-49F6-8B91-7966E065B17E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互動範例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69F09B-A10C-4D05-984A-EF714DA92E8C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190750" cy="38100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0C2B08-BCBE-4804-AC4E-A280235F3713}"/>
              </a:ext>
            </a:extLst>
          </p:cNvPr>
          <p:cNvSpPr>
            <a:spLocks noGrp="1"/>
          </p:cNvSpPr>
          <p:nvPr/>
        </p:nvSpPr>
        <p:spPr>
          <a:xfrm>
            <a:off x="704850" y="4371975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玩家動作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42C8DF-C8DE-429B-917C-27F75C527B0F}"/>
              </a:ext>
            </a:extLst>
          </p:cNvPr>
          <p:cNvSpPr>
            <a:spLocks noGrp="1"/>
          </p:cNvSpPr>
          <p:nvPr/>
        </p:nvSpPr>
        <p:spPr>
          <a:xfrm>
            <a:off x="2800350" y="4286250"/>
            <a:ext cx="4095750" cy="38100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079780F-DE0D-49D9-857C-DBBE746C04AA}"/>
              </a:ext>
            </a:extLst>
          </p:cNvPr>
          <p:cNvSpPr>
            <a:spLocks noGrp="1"/>
          </p:cNvSpPr>
          <p:nvPr/>
        </p:nvSpPr>
        <p:spPr>
          <a:xfrm>
            <a:off x="2895600" y="4371975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程式可能做的事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0765B4-4CF9-4FF3-81D7-831F0970E936}"/>
              </a:ext>
            </a:extLst>
          </p:cNvPr>
          <p:cNvSpPr>
            <a:spLocks noGrp="1"/>
          </p:cNvSpPr>
          <p:nvPr/>
        </p:nvSpPr>
        <p:spPr>
          <a:xfrm>
            <a:off x="6896100" y="4286250"/>
            <a:ext cx="4000500" cy="381000"/>
          </a:xfrm>
          <a:prstGeom prst="rect">
            <a:avLst/>
          </a:prstGeom>
          <a:solidFill>
            <a:srgbClr val="E7F7F3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504812-A785-4E5C-A1EC-2AB03E25A818}"/>
              </a:ext>
            </a:extLst>
          </p:cNvPr>
          <p:cNvSpPr>
            <a:spLocks noGrp="1"/>
          </p:cNvSpPr>
          <p:nvPr/>
        </p:nvSpPr>
        <p:spPr>
          <a:xfrm>
            <a:off x="6991350" y="4371975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玩家看到的結果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B549D27-1216-477D-96C2-2621DE52A9D3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8C183F-659E-48EC-81F2-5F88BCCACB79}"/>
              </a:ext>
            </a:extLst>
          </p:cNvPr>
          <p:cNvSpPr>
            <a:spLocks noGrp="1"/>
          </p:cNvSpPr>
          <p:nvPr/>
        </p:nvSpPr>
        <p:spPr>
          <a:xfrm>
            <a:off x="704850" y="4752975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按每日獎勵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F82183-77BF-4751-AD21-7A65C7FED82A}"/>
              </a:ext>
            </a:extLst>
          </p:cNvPr>
          <p:cNvSpPr>
            <a:spLocks noGrp="1"/>
          </p:cNvSpPr>
          <p:nvPr/>
        </p:nvSpPr>
        <p:spPr>
          <a:xfrm>
            <a:off x="2800350" y="4667250"/>
            <a:ext cx="4095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9F03DC-8512-4E77-87A9-A8D98EE1ACBA}"/>
              </a:ext>
            </a:extLst>
          </p:cNvPr>
          <p:cNvSpPr>
            <a:spLocks noGrp="1"/>
          </p:cNvSpPr>
          <p:nvPr/>
        </p:nvSpPr>
        <p:spPr>
          <a:xfrm>
            <a:off x="2895600" y="4752975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檢查今天是否可領，將獎勵加到玩家資料。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41A879-28BE-425B-A0EE-440E0F371B3B}"/>
              </a:ext>
            </a:extLst>
          </p:cNvPr>
          <p:cNvSpPr>
            <a:spLocks noGrp="1"/>
          </p:cNvSpPr>
          <p:nvPr/>
        </p:nvSpPr>
        <p:spPr>
          <a:xfrm>
            <a:off x="6896100" y="4667250"/>
            <a:ext cx="4000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063E200-59B2-4405-9FE5-20C7B20FE398}"/>
              </a:ext>
            </a:extLst>
          </p:cNvPr>
          <p:cNvSpPr>
            <a:spLocks noGrp="1"/>
          </p:cNvSpPr>
          <p:nvPr/>
        </p:nvSpPr>
        <p:spPr>
          <a:xfrm>
            <a:off x="6991350" y="4752975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金幣或 XP 增加，獎勵視窗關閉。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816DFD9-E4A3-4837-8C05-B1432645A124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284249-7E71-4E4B-A73A-273F89003845}"/>
              </a:ext>
            </a:extLst>
          </p:cNvPr>
          <p:cNvSpPr>
            <a:spLocks noGrp="1"/>
          </p:cNvSpPr>
          <p:nvPr/>
        </p:nvSpPr>
        <p:spPr>
          <a:xfrm>
            <a:off x="704850" y="5133975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按鎚子圖示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17EE8B-AA83-4A6C-B9A2-977D51B6253B}"/>
              </a:ext>
            </a:extLst>
          </p:cNvPr>
          <p:cNvSpPr>
            <a:spLocks noGrp="1"/>
          </p:cNvSpPr>
          <p:nvPr/>
        </p:nvSpPr>
        <p:spPr>
          <a:xfrm>
            <a:off x="2800350" y="5048250"/>
            <a:ext cx="4095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C330BF1-A711-4529-94DA-C8D7F9DD56FC}"/>
              </a:ext>
            </a:extLst>
          </p:cNvPr>
          <p:cNvSpPr>
            <a:spLocks noGrp="1"/>
          </p:cNvSpPr>
          <p:nvPr/>
        </p:nvSpPr>
        <p:spPr>
          <a:xfrm>
            <a:off x="2895600" y="5133975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切換為建造/編輯模式，顯示可放置物件。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E4803E9-14F2-42CB-ABB6-3576B5761A3D}"/>
              </a:ext>
            </a:extLst>
          </p:cNvPr>
          <p:cNvSpPr>
            <a:spLocks noGrp="1"/>
          </p:cNvSpPr>
          <p:nvPr/>
        </p:nvSpPr>
        <p:spPr>
          <a:xfrm>
            <a:off x="6896100" y="5048250"/>
            <a:ext cx="4000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097C416-32B4-407E-9268-275BE5FCAE96}"/>
              </a:ext>
            </a:extLst>
          </p:cNvPr>
          <p:cNvSpPr>
            <a:spLocks noGrp="1"/>
          </p:cNvSpPr>
          <p:nvPr/>
        </p:nvSpPr>
        <p:spPr>
          <a:xfrm>
            <a:off x="6991350" y="5133975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出現建築或裝飾清單。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6819CB2-52FF-49C8-8622-20E13498D3FA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F6B130B-A575-4C4F-A4E5-9753AF13B198}"/>
              </a:ext>
            </a:extLst>
          </p:cNvPr>
          <p:cNvSpPr>
            <a:spLocks noGrp="1"/>
          </p:cNvSpPr>
          <p:nvPr/>
        </p:nvSpPr>
        <p:spPr>
          <a:xfrm>
            <a:off x="704850" y="5514975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按 T-shirt 圖示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70BF32-D649-468D-B7CA-813987FAF0FB}"/>
              </a:ext>
            </a:extLst>
          </p:cNvPr>
          <p:cNvSpPr>
            <a:spLocks noGrp="1"/>
          </p:cNvSpPr>
          <p:nvPr/>
        </p:nvSpPr>
        <p:spPr>
          <a:xfrm>
            <a:off x="2800350" y="5429250"/>
            <a:ext cx="4095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8526D80-04B5-4782-969C-C5540ACCA1CC}"/>
              </a:ext>
            </a:extLst>
          </p:cNvPr>
          <p:cNvSpPr>
            <a:spLocks noGrp="1"/>
          </p:cNvSpPr>
          <p:nvPr/>
        </p:nvSpPr>
        <p:spPr>
          <a:xfrm>
            <a:off x="2895600" y="5514975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讀取角色外觀清單，套用選擇。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17DD07D-1E0B-4037-8257-9508A2F0AA93}"/>
              </a:ext>
            </a:extLst>
          </p:cNvPr>
          <p:cNvSpPr>
            <a:spLocks noGrp="1"/>
          </p:cNvSpPr>
          <p:nvPr/>
        </p:nvSpPr>
        <p:spPr>
          <a:xfrm>
            <a:off x="6896100" y="5429250"/>
            <a:ext cx="4000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50A14F5-A01C-428E-977D-5EDEC1C67759}"/>
              </a:ext>
            </a:extLst>
          </p:cNvPr>
          <p:cNvSpPr>
            <a:spLocks noGrp="1"/>
          </p:cNvSpPr>
          <p:nvPr/>
        </p:nvSpPr>
        <p:spPr>
          <a:xfrm>
            <a:off x="6991350" y="5514975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角色模型外觀變換。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94B1DA4-EAF8-4A11-BCF0-4C13910E6882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190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914A20D-7952-4CB2-8832-40C1DE92EB46}"/>
              </a:ext>
            </a:extLst>
          </p:cNvPr>
          <p:cNvSpPr>
            <a:spLocks noGrp="1"/>
          </p:cNvSpPr>
          <p:nvPr/>
        </p:nvSpPr>
        <p:spPr>
          <a:xfrm>
            <a:off x="704850" y="5895975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按右側加號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5052CA3-4ADD-45B2-9071-83CA05716639}"/>
              </a:ext>
            </a:extLst>
          </p:cNvPr>
          <p:cNvSpPr>
            <a:spLocks noGrp="1"/>
          </p:cNvSpPr>
          <p:nvPr/>
        </p:nvSpPr>
        <p:spPr>
          <a:xfrm>
            <a:off x="2800350" y="5810250"/>
            <a:ext cx="40957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6087BFD-E6D2-42F6-A617-299347C85386}"/>
              </a:ext>
            </a:extLst>
          </p:cNvPr>
          <p:cNvSpPr>
            <a:spLocks noGrp="1"/>
          </p:cNvSpPr>
          <p:nvPr/>
        </p:nvSpPr>
        <p:spPr>
          <a:xfrm>
            <a:off x="2895600" y="5895975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增加鏡頭縮放數值，重新繪製場景。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7B98058-66E4-4135-9E88-4D2FE5B7EEE0}"/>
              </a:ext>
            </a:extLst>
          </p:cNvPr>
          <p:cNvSpPr>
            <a:spLocks noGrp="1"/>
          </p:cNvSpPr>
          <p:nvPr/>
        </p:nvSpPr>
        <p:spPr>
          <a:xfrm>
            <a:off x="6896100" y="5810250"/>
            <a:ext cx="40005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C034F3B-F9FF-4B48-8B2A-AD1E2E346E19}"/>
              </a:ext>
            </a:extLst>
          </p:cNvPr>
          <p:cNvSpPr>
            <a:spLocks noGrp="1"/>
          </p:cNvSpPr>
          <p:nvPr/>
        </p:nvSpPr>
        <p:spPr>
          <a:xfrm>
            <a:off x="6991350" y="5895975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7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島嶼畫面變近，比例文字更新。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1A58D8C-4D69-4AF0-AEC8-C8713CC299D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253303E-6C89-49E3-B2C3-859F3C06DA9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918D83E-E922-44B6-B3C1-255DD9CBEB1E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7400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3FCA924-C88E-4BE4-915E-5AE08139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84F6BC-62C0-4C1A-BC7D-E2AECB15F2D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DESIGN READ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566E5B-6475-4538-BEE5-FFE6DEC814A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7620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介面友善且有沉浸感，但新手提示仍可加強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570849-F339-49CA-8C09-9938B32AE08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低多邊形 3D 風格很適合休閒遊戲；主要風險在圖示可理解度。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0B8BC6-F6C7-4F59-BACE-CB828D772CFE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287000" cy="190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rcRect l="114" r="114"/>
          <a:stretch>
            <a:fillRect/>
          </a:stretch>
        </p:blipFill>
        <p:spPr>
          <a:xfrm>
            <a:off x="609600" y="2247900"/>
            <a:ext cx="4857750" cy="31051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0C14E81-7840-415A-80F3-494D5A539F4D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4857750" cy="438150"/>
          </a:xfrm>
          <a:prstGeom prst="rect">
            <a:avLst/>
          </a:prstGeom>
          <a:solidFill>
            <a:srgbClr val="17313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BDCF86-5F04-433D-BA67-98F1821C1F37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447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主場景建立世界感：角色、建築、草地與水域讓玩家知道自己在一個可探索基地。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73E6C3-5211-4148-806F-0ECE64CF9826}"/>
              </a:ext>
            </a:extLst>
          </p:cNvPr>
          <p:cNvSpPr>
            <a:spLocks noGrp="1"/>
          </p:cNvSpPr>
          <p:nvPr/>
        </p:nvSpPr>
        <p:spPr>
          <a:xfrm>
            <a:off x="5962650" y="224790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B740E2-B1AA-4E32-AE1A-DD5059EB4D88}"/>
              </a:ext>
            </a:extLst>
          </p:cNvPr>
          <p:cNvSpPr>
            <a:spLocks noGrp="1"/>
          </p:cNvSpPr>
          <p:nvPr/>
        </p:nvSpPr>
        <p:spPr>
          <a:xfrm>
            <a:off x="5962650" y="2247900"/>
            <a:ext cx="2476500" cy="571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3BF08B-1419-42F3-9F14-2CFFFCC1E50C}"/>
              </a:ext>
            </a:extLst>
          </p:cNvPr>
          <p:cNvSpPr>
            <a:spLocks noGrp="1"/>
          </p:cNvSpPr>
          <p:nvPr/>
        </p:nvSpPr>
        <p:spPr>
          <a:xfrm>
            <a:off x="6115050" y="238125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優點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B7646F-29BE-486F-89F6-E4BD1459179F}"/>
              </a:ext>
            </a:extLst>
          </p:cNvPr>
          <p:cNvSpPr>
            <a:spLocks noGrp="1"/>
          </p:cNvSpPr>
          <p:nvPr/>
        </p:nvSpPr>
        <p:spPr>
          <a:xfrm>
            <a:off x="6172200" y="2743200"/>
            <a:ext cx="211455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主場景明確</a:t>
            </a:r>
          </a:p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資源與等級集中</a:t>
            </a:r>
          </a:p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按鈕大且易點</a:t>
            </a:r>
          </a:p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首頁高亮清楚</a:t>
            </a:r>
          </a:p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事件倒數有視覺辨識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BB0373-F932-4161-9B59-24D6A6DDA569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5427B3-14A4-46B9-8281-A56F91C12F56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2476500" cy="57150"/>
          </a:xfrm>
          <a:prstGeom prst="rect">
            <a:avLst/>
          </a:prstGeom>
          <a:solidFill>
            <a:srgbClr val="F2B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E67DA8-8069-48D8-93B3-676216BA5156}"/>
              </a:ext>
            </a:extLst>
          </p:cNvPr>
          <p:cNvSpPr>
            <a:spLocks noGrp="1"/>
          </p:cNvSpPr>
          <p:nvPr/>
        </p:nvSpPr>
        <p:spPr>
          <a:xfrm>
            <a:off x="8896350" y="2381250"/>
            <a:ext cx="2171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可能限制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EAF23F-F3C2-4160-A9A9-2AB4B3947426}"/>
              </a:ext>
            </a:extLst>
          </p:cNvPr>
          <p:cNvSpPr>
            <a:spLocks noGrp="1"/>
          </p:cNvSpPr>
          <p:nvPr/>
        </p:nvSpPr>
        <p:spPr>
          <a:xfrm>
            <a:off x="8953500" y="2743200"/>
            <a:ext cx="211455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部分圖示缺少文字</a:t>
            </a:r>
          </a:p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事件效果說明不足</a:t>
            </a:r>
          </a:p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建築可點擊性不明顯</a:t>
            </a:r>
          </a:p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資訊卡在亮背景上可能較難讀</a:t>
            </a:r>
          </a:p>
          <a:p>
            <a:pPr algn="l">
              <a:def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• 每日獎勵需再次開啟入口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E8A9B2-506E-4C79-B791-A5DFA4E93B14}"/>
              </a:ext>
            </a:extLst>
          </p:cNvPr>
          <p:cNvSpPr>
            <a:spLocks noGrp="1"/>
          </p:cNvSpPr>
          <p:nvPr/>
        </p:nvSpPr>
        <p:spPr>
          <a:xfrm>
            <a:off x="5962650" y="5448300"/>
            <a:ext cx="5257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判斷：視覺吸引力已經成立，下一步不是大改風格，而是讓功能意義更明確。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DB8AB7-222E-4D20-ADBA-3F31E1F24C2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3AA0FD-3233-4755-B82E-EFC2AFAF8DF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D497C8-37FB-416A-B030-D7AF8930E4C7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523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12C34036-A549-4201-8B2E-2778147713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99DA8B-9F3D-422A-9DDB-CD25D38F9F7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B68"/>
                </a:solidFill>
                <a:latin typeface="Microsoft JhengHei"/>
                <a:ea typeface="Microsoft JhengHei"/>
                <a:cs typeface="Microsoft JhengHei"/>
              </a:rPr>
              <a:t>ROADMAP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4F51AC-DBD5-46BE-8DA4-97E092B3F81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7620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優先改善應從『看得懂』開始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CB44C5-EAC8-49C2-9E2C-1DC9AFBB839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這些改動不需大幅改版，卻能明顯提升新玩家的理解速度。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A5CF06-7C81-4BEF-892D-A70E00E3B982}"/>
              </a:ext>
            </a:extLst>
          </p:cNvPr>
          <p:cNvSpPr>
            <a:spLocks noGrp="1"/>
          </p:cNvSpPr>
          <p:nvPr/>
        </p:nvSpPr>
        <p:spPr>
          <a:xfrm>
            <a:off x="609600" y="1895475"/>
            <a:ext cx="10287000" cy="190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A1E826-F3FC-4BEC-85CE-FE2F8C192238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2956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D32C84-6910-48C6-9B47-32724ED1067B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3295650" cy="571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404417-197E-4E75-89AC-828A55FE47EA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rPr>
              <a:t>P1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1E7192-D4AD-4FE1-A06D-ABE91E9CD0F4}"/>
              </a:ext>
            </a:extLst>
          </p:cNvPr>
          <p:cNvSpPr>
            <a:spLocks noGrp="1"/>
          </p:cNvSpPr>
          <p:nvPr/>
        </p:nvSpPr>
        <p:spPr>
          <a:xfrm>
            <a:off x="762000" y="26860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新手提示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C4CF7E-1B42-4BA8-A07A-88F320C307ED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每日獎勵結束後，以 3 到 5 個短提示介紹狀態卡、左側按鈕、事件倒數與縮放。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1057C8-1157-4862-B789-DD4D6FBD7C50}"/>
              </a:ext>
            </a:extLst>
          </p:cNvPr>
          <p:cNvSpPr>
            <a:spLocks noGrp="1"/>
          </p:cNvSpPr>
          <p:nvPr/>
        </p:nvSpPr>
        <p:spPr>
          <a:xfrm>
            <a:off x="4448175" y="2266950"/>
            <a:ext cx="32956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DC3C2A-2978-4FD7-AF89-CD4ABC658F2C}"/>
              </a:ext>
            </a:extLst>
          </p:cNvPr>
          <p:cNvSpPr>
            <a:spLocks noGrp="1"/>
          </p:cNvSpPr>
          <p:nvPr/>
        </p:nvSpPr>
        <p:spPr>
          <a:xfrm>
            <a:off x="4448175" y="2266950"/>
            <a:ext cx="3295650" cy="57150"/>
          </a:xfrm>
          <a:prstGeom prst="rect">
            <a:avLst/>
          </a:prstGeom>
          <a:solidFill>
            <a:srgbClr val="16BFA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8C6007-50D0-4AA1-A285-1E7785BDF087}"/>
              </a:ext>
            </a:extLst>
          </p:cNvPr>
          <p:cNvSpPr>
            <a:spLocks noGrp="1"/>
          </p:cNvSpPr>
          <p:nvPr/>
        </p:nvSpPr>
        <p:spPr>
          <a:xfrm>
            <a:off x="4600575" y="24574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rPr>
              <a:t>P1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A4C796-6E90-4F67-BD98-C4C7B89EFA7E}"/>
              </a:ext>
            </a:extLst>
          </p:cNvPr>
          <p:cNvSpPr>
            <a:spLocks noGrp="1"/>
          </p:cNvSpPr>
          <p:nvPr/>
        </p:nvSpPr>
        <p:spPr>
          <a:xfrm>
            <a:off x="4600575" y="26860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圖示文字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332C44-F461-4E7A-8E40-04716B18CE51}"/>
              </a:ext>
            </a:extLst>
          </p:cNvPr>
          <p:cNvSpPr>
            <a:spLocks noGrp="1"/>
          </p:cNvSpPr>
          <p:nvPr/>
        </p:nvSpPr>
        <p:spPr>
          <a:xfrm>
            <a:off x="4600575" y="299085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滑鼠停留或手機長按時顯示「建造」「物品」「外觀」等短標籤。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5155C1-35ED-4AF7-8096-F25B49705056}"/>
              </a:ext>
            </a:extLst>
          </p:cNvPr>
          <p:cNvSpPr>
            <a:spLocks noGrp="1"/>
          </p:cNvSpPr>
          <p:nvPr/>
        </p:nvSpPr>
        <p:spPr>
          <a:xfrm>
            <a:off x="8286750" y="2266950"/>
            <a:ext cx="32956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9B80C1-3779-4F1B-822C-CAF0A8E57600}"/>
              </a:ext>
            </a:extLst>
          </p:cNvPr>
          <p:cNvSpPr>
            <a:spLocks noGrp="1"/>
          </p:cNvSpPr>
          <p:nvPr/>
        </p:nvSpPr>
        <p:spPr>
          <a:xfrm>
            <a:off x="8286750" y="2266950"/>
            <a:ext cx="3295650" cy="57150"/>
          </a:xfrm>
          <a:prstGeom prst="rect">
            <a:avLst/>
          </a:prstGeom>
          <a:solidFill>
            <a:srgbClr val="2F80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5C9FAA-3D51-459C-B375-2A6E33D08E51}"/>
              </a:ext>
            </a:extLst>
          </p:cNvPr>
          <p:cNvSpPr>
            <a:spLocks noGrp="1"/>
          </p:cNvSpPr>
          <p:nvPr/>
        </p:nvSpPr>
        <p:spPr>
          <a:xfrm>
            <a:off x="8439150" y="24574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80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2F80ED"/>
                </a:solidFill>
                <a:latin typeface="Microsoft JhengHei"/>
                <a:ea typeface="Microsoft JhengHei"/>
                <a:cs typeface="Microsoft JhengHei"/>
              </a:rPr>
              <a:t>P2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11C054-E6F7-4690-96E9-DFB869ADCF34}"/>
              </a:ext>
            </a:extLst>
          </p:cNvPr>
          <p:cNvSpPr>
            <a:spLocks noGrp="1"/>
          </p:cNvSpPr>
          <p:nvPr/>
        </p:nvSpPr>
        <p:spPr>
          <a:xfrm>
            <a:off x="8439150" y="26860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事件說明卡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58DD16-0F27-4BF9-B8BB-F04E31EB8DA7}"/>
              </a:ext>
            </a:extLst>
          </p:cNvPr>
          <p:cNvSpPr>
            <a:spLocks noGrp="1"/>
          </p:cNvSpPr>
          <p:nvPr/>
        </p:nvSpPr>
        <p:spPr>
          <a:xfrm>
            <a:off x="8439150" y="299085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點擊瑞雪紛飛倒數時，顯示剩餘時間、加成或是否只是視覺效果。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2A79732-4C42-43EC-9C00-DE0EB2CB99D0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32956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A0D272-DFFA-4E77-81A3-03ADAE746FF1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3295650" cy="57150"/>
          </a:xfrm>
          <a:prstGeom prst="rect">
            <a:avLst/>
          </a:prstGeom>
          <a:solidFill>
            <a:srgbClr val="2F80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56577D-57C5-4EA0-8564-0D38A8AD85A6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80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2F80ED"/>
                </a:solidFill>
                <a:latin typeface="Microsoft JhengHei"/>
                <a:ea typeface="Microsoft JhengHei"/>
                <a:cs typeface="Microsoft JhengHei"/>
              </a:rPr>
              <a:t>P2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EAD225-6F66-4576-A19F-0D8EF7250D6C}"/>
              </a:ext>
            </a:extLst>
          </p:cNvPr>
          <p:cNvSpPr>
            <a:spLocks noGrp="1"/>
          </p:cNvSpPr>
          <p:nvPr/>
        </p:nvSpPr>
        <p:spPr>
          <a:xfrm>
            <a:off x="762000" y="42481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資源動畫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0760B67-DC5E-4853-8113-0723265519F7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金幣與 XP 增加時加入小幅跳動或飛入動畫，讓獎勵更有成就感。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D62726C-2B57-4C0A-99CD-EA81C290D9DD}"/>
              </a:ext>
            </a:extLst>
          </p:cNvPr>
          <p:cNvSpPr>
            <a:spLocks noGrp="1"/>
          </p:cNvSpPr>
          <p:nvPr/>
        </p:nvSpPr>
        <p:spPr>
          <a:xfrm>
            <a:off x="4448175" y="3829050"/>
            <a:ext cx="32956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BE9D1F-188F-4948-B77D-C4C275579994}"/>
              </a:ext>
            </a:extLst>
          </p:cNvPr>
          <p:cNvSpPr>
            <a:spLocks noGrp="1"/>
          </p:cNvSpPr>
          <p:nvPr/>
        </p:nvSpPr>
        <p:spPr>
          <a:xfrm>
            <a:off x="4448175" y="3829050"/>
            <a:ext cx="3295650" cy="57150"/>
          </a:xfrm>
          <a:prstGeom prst="rect">
            <a:avLst/>
          </a:prstGeom>
          <a:solidFill>
            <a:srgbClr val="F2B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E945DB-A1D1-49B4-99DB-8F77E0F8FCC8}"/>
              </a:ext>
            </a:extLst>
          </p:cNvPr>
          <p:cNvSpPr>
            <a:spLocks noGrp="1"/>
          </p:cNvSpPr>
          <p:nvPr/>
        </p:nvSpPr>
        <p:spPr>
          <a:xfrm>
            <a:off x="4600575" y="40195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2B2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2B24B"/>
                </a:solidFill>
                <a:latin typeface="Microsoft JhengHei"/>
                <a:ea typeface="Microsoft JhengHei"/>
                <a:cs typeface="Microsoft JhengHei"/>
              </a:rPr>
              <a:t>P3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57EEB1-B3EE-4D9D-944D-D2ADFD8E44F0}"/>
              </a:ext>
            </a:extLst>
          </p:cNvPr>
          <p:cNvSpPr>
            <a:spLocks noGrp="1"/>
          </p:cNvSpPr>
          <p:nvPr/>
        </p:nvSpPr>
        <p:spPr>
          <a:xfrm>
            <a:off x="4600575" y="42481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物件互動提示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1EDACB-3001-438D-95D0-6E5CA16590EC}"/>
              </a:ext>
            </a:extLst>
          </p:cNvPr>
          <p:cNvSpPr>
            <a:spLocks noGrp="1"/>
          </p:cNvSpPr>
          <p:nvPr/>
        </p:nvSpPr>
        <p:spPr>
          <a:xfrm>
            <a:off x="4600575" y="455295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建築與角色在滑鼠靠近時加亮，或浮出名稱與小圖示。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E473787-8029-4FAD-AC6F-71AEC930C94B}"/>
              </a:ext>
            </a:extLst>
          </p:cNvPr>
          <p:cNvSpPr>
            <a:spLocks noGrp="1"/>
          </p:cNvSpPr>
          <p:nvPr/>
        </p:nvSpPr>
        <p:spPr>
          <a:xfrm>
            <a:off x="8286750" y="3829050"/>
            <a:ext cx="32956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CFE1D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DC1FD40-D15F-4C5F-A1DA-B47B39345FCD}"/>
              </a:ext>
            </a:extLst>
          </p:cNvPr>
          <p:cNvSpPr>
            <a:spLocks noGrp="1"/>
          </p:cNvSpPr>
          <p:nvPr/>
        </p:nvSpPr>
        <p:spPr>
          <a:xfrm>
            <a:off x="8286750" y="3829050"/>
            <a:ext cx="3295650" cy="57150"/>
          </a:xfrm>
          <a:prstGeom prst="rect">
            <a:avLst/>
          </a:prstGeom>
          <a:solidFill>
            <a:srgbClr val="F2B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511C2F-29ED-4951-B481-FD4D46B5935A}"/>
              </a:ext>
            </a:extLst>
          </p:cNvPr>
          <p:cNvSpPr>
            <a:spLocks noGrp="1"/>
          </p:cNvSpPr>
          <p:nvPr/>
        </p:nvSpPr>
        <p:spPr>
          <a:xfrm>
            <a:off x="8439150" y="401955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2B2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2B24B"/>
                </a:solidFill>
                <a:latin typeface="Microsoft JhengHei"/>
                <a:ea typeface="Microsoft JhengHei"/>
                <a:cs typeface="Microsoft JhengHei"/>
              </a:rPr>
              <a:t>P3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64AC92F-E587-45EE-83A4-DB4A4D3E6138}"/>
              </a:ext>
            </a:extLst>
          </p:cNvPr>
          <p:cNvSpPr>
            <a:spLocks noGrp="1"/>
          </p:cNvSpPr>
          <p:nvPr/>
        </p:nvSpPr>
        <p:spPr>
          <a:xfrm>
            <a:off x="8439150" y="42481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0F2F3C"/>
                </a:solidFill>
                <a:latin typeface="Microsoft JhengHei"/>
                <a:ea typeface="Microsoft JhengHei"/>
                <a:cs typeface="Microsoft JhengHei"/>
              </a:rPr>
              <a:t>縮放重設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05AB007-8435-4F13-B481-BA5123738910}"/>
              </a:ext>
            </a:extLst>
          </p:cNvPr>
          <p:cNvSpPr>
            <a:spLocks noGrp="1"/>
          </p:cNvSpPr>
          <p:nvPr/>
        </p:nvSpPr>
        <p:spPr>
          <a:xfrm>
            <a:off x="8439150" y="4552950"/>
            <a:ext cx="2952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讓中間的 100% 可點擊回到預設視角，或加入小型重設圖示。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957A75B-BD16-4E28-8D99-D6B1A2BEF4DB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876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57985"/>
                </a:solidFill>
                <a:latin typeface="Microsoft JhengHei"/>
                <a:ea typeface="Microsoft JhengHei"/>
                <a:cs typeface="Microsoft JhengHei"/>
              </a:rPr>
              <a:t>排序原則：先降低理解成本，再強化獎勵感，最後補足細節操作效率。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2F8A05A-5972-482D-8D03-51125AF076C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3494E10-2D8C-46BC-8ABC-8B8CD3AA798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4A22773-F1FE-4F63-B711-4CB1E5658F0C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3472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F1AFFA5-4BB4-4494-A487-06B689BD99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1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86650" y="4704068"/>
            <a:ext cx="3238500" cy="84076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072392D-A37A-4E0B-80B6-2437398C03D7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rPr>
              <a:t>TAKEAWAY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208F0D-F88A-40FD-8790-B5FD355875E7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7239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這個介面已經具備完整的遊戲主基地雛形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B519C9-F753-43C0-BC0F-DBE35A99E9EB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CEDE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DCEDEA"/>
                </a:solidFill>
                <a:latin typeface="Microsoft JhengHei"/>
                <a:ea typeface="Microsoft JhengHei"/>
                <a:cs typeface="Microsoft JhengHei"/>
              </a:rPr>
              <a:t>玩家資訊、島嶼世界、短期事件、常用入口與縮放控制都集中在同一個主畫面。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8B656F5-A815-40A0-A9CD-8892168328CD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933700" cy="1390650"/>
          </a:xfrm>
          <a:prstGeom prst="rect">
            <a:avLst/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DD75FE-7BDC-4475-A750-F83A8A5DB114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對一般玩家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03C586-E5FC-4AB6-A3E0-83903A0B9E5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228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E6F3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E6F3F0"/>
                </a:solidFill>
                <a:latin typeface="Microsoft JhengHei"/>
                <a:ea typeface="Microsoft JhengHei"/>
                <a:cs typeface="Microsoft JhengHei"/>
              </a:rPr>
              <a:t>第一眼能理解自己在島嶼基地，並看到資源、角色與常用入口。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623A4-8819-4A7C-AFA9-07979D790D9A}"/>
              </a:ext>
            </a:extLst>
          </p:cNvPr>
          <p:cNvSpPr>
            <a:spLocks noGrp="1"/>
          </p:cNvSpPr>
          <p:nvPr/>
        </p:nvSpPr>
        <p:spPr>
          <a:xfrm>
            <a:off x="3848100" y="3105150"/>
            <a:ext cx="2933700" cy="1390650"/>
          </a:xfrm>
          <a:prstGeom prst="rect">
            <a:avLst/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59B93E-1E1D-4A2D-811D-0F0E334793B6}"/>
              </a:ext>
            </a:extLst>
          </p:cNvPr>
          <p:cNvSpPr>
            <a:spLocks noGrp="1"/>
          </p:cNvSpPr>
          <p:nvPr/>
        </p:nvSpPr>
        <p:spPr>
          <a:xfrm>
            <a:off x="4076700" y="33337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對老師評審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811DCB-BA25-46AD-BBA0-1A7C25010F01}"/>
              </a:ext>
            </a:extLst>
          </p:cNvPr>
          <p:cNvSpPr>
            <a:spLocks noGrp="1"/>
          </p:cNvSpPr>
          <p:nvPr/>
        </p:nvSpPr>
        <p:spPr>
          <a:xfrm>
            <a:off x="4076700" y="3714750"/>
            <a:ext cx="2286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E6F3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E6F3F0"/>
                </a:solidFill>
                <a:latin typeface="Microsoft JhengHei"/>
                <a:ea typeface="Microsoft JhengHei"/>
                <a:cs typeface="Microsoft JhengHei"/>
              </a:rPr>
              <a:t>可以看到資源系統、每日回饋、事件提示、狀態更新與前端層次。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A2CB0D-F05B-422C-8D71-1280A0E5E7EC}"/>
              </a:ext>
            </a:extLst>
          </p:cNvPr>
          <p:cNvSpPr>
            <a:spLocks noGrp="1"/>
          </p:cNvSpPr>
          <p:nvPr/>
        </p:nvSpPr>
        <p:spPr>
          <a:xfrm>
            <a:off x="7086600" y="3105150"/>
            <a:ext cx="3714750" cy="1390650"/>
          </a:xfrm>
          <a:prstGeom prst="rect">
            <a:avLst/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9833AB-F4A7-4066-8C77-BADE7F885BBF}"/>
              </a:ext>
            </a:extLst>
          </p:cNvPr>
          <p:cNvSpPr>
            <a:spLocks noGrp="1"/>
          </p:cNvSpPr>
          <p:nvPr/>
        </p:nvSpPr>
        <p:spPr>
          <a:xfrm>
            <a:off x="7334250" y="33337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下一版可補充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FC05EA-83DB-4EEC-97D0-E418E66F876D}"/>
              </a:ext>
            </a:extLst>
          </p:cNvPr>
          <p:cNvSpPr>
            <a:spLocks noGrp="1"/>
          </p:cNvSpPr>
          <p:nvPr/>
        </p:nvSpPr>
        <p:spPr>
          <a:xfrm>
            <a:off x="7334250" y="3714750"/>
            <a:ext cx="2990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E6F3F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63" b="0">
                <a:solidFill>
                  <a:srgbClr val="E6F3F0"/>
                </a:solidFill>
                <a:latin typeface="Microsoft JhengHei"/>
                <a:ea typeface="Microsoft JhengHei"/>
                <a:cs typeface="Microsoft JhengHei"/>
              </a:rPr>
              <a:t>每日獎勵彈窗、建造面板、物品面板、外觀面板截圖，能讓報告升級為完整多畫面導覽。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58244E-D219-458D-B9DF-6227847F5A19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BFA3"/>
                </a:solidFill>
                <a:latin typeface="Microsoft JhengHei"/>
                <a:ea typeface="Microsoft JhengHei"/>
                <a:cs typeface="Microsoft JhengHei"/>
              </a:rPr>
              <a:t>結論：先補標籤與新手導覽，就能讓第一次玩的使用者更有信心。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90C756-E037-49A6-9C2C-D6A642B3B24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191750" cy="9525"/>
          </a:xfrm>
          <a:prstGeom prst="rect">
            <a:avLst/>
          </a:prstGeom>
          <a:solidFill>
            <a:srgbClr val="D8E6E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8F5459-D942-4A5A-A98C-817B32CF3D7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47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Island Fitness AI 遊戲介面簡報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58EEE0-7C94-4796-A97B-50C088AE3F27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A8B95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20300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Macintosh PowerPoint</Application>
  <DocSecurity>0</DocSecurity>
  <PresentationFormat>寬螢幕</PresentationFormat>
  <Paragraphs>208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張泳淇</cp:lastModifiedBy>
  <cp:revision>1</cp:revision>
  <dcterms:created xsi:type="dcterms:W3CDTF">2026-05-31T09:11:48Z</dcterms:created>
  <dcterms:modified xsi:type="dcterms:W3CDTF">2026-05-31T10:00:55Z</dcterms:modified>
</cp:coreProperties>
</file>