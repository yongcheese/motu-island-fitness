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Relationship Id="rId7" Type="http://schemas.openxmlformats.org/officeDocument/2006/relationships/image" Target="../media/image6.png"/><Relationship Id="rId8" Type="http://schemas.openxmlformats.org/officeDocument/2006/relationships/image" Target="../media/image7.png"/><Relationship Id="rId9" Type="http://schemas.openxmlformats.org/officeDocument/2006/relationships/image" Target="../media/image8.png"/><Relationship Id="rId10" Type="http://schemas.openxmlformats.org/officeDocument/2006/relationships/image" Target="../media/image9.png"/><Relationship Id="rId11" Type="http://schemas.openxmlformats.org/officeDocument/2006/relationships/image" Target="../media/image10.png"/><Relationship Id="rId12" Type="http://schemas.openxmlformats.org/officeDocument/2006/relationships/image" Target="../media/image11.png"/><Relationship Id="rId13" Type="http://schemas.openxmlformats.org/officeDocument/2006/relationships/image" Target="../media/image12.png"/><Relationship Id="rId14" Type="http://schemas.openxmlformats.org/officeDocument/2006/relationships/image" Target="../media/image13.png"/><Relationship Id="rId15" Type="http://schemas.openxmlformats.org/officeDocument/2006/relationships/image" Target="../media/image14.png"/><Relationship Id="rId16" Type="http://schemas.openxmlformats.org/officeDocument/2006/relationships/image" Target="../media/image15.png"/><Relationship Id="rId17" Type="http://schemas.openxmlformats.org/officeDocument/2006/relationships/image" Target="../media/image16.png"/><Relationship Id="rId18" Type="http://schemas.openxmlformats.org/officeDocument/2006/relationships/image" Target="../media/image17.png"/><Relationship Id="rId19" Type="http://schemas.openxmlformats.org/officeDocument/2006/relationships/image" Target="../media/image18.png"/><Relationship Id="rId20" Type="http://schemas.openxmlformats.org/officeDocument/2006/relationships/image" Target="../media/image19.png"/><Relationship Id="rId21" Type="http://schemas.openxmlformats.org/officeDocument/2006/relationships/image" Target="../media/image20.png"/><Relationship Id="rId22" Type="http://schemas.openxmlformats.org/officeDocument/2006/relationships/image" Target="../media/image21.png"/><Relationship Id="rId23" Type="http://schemas.openxmlformats.org/officeDocument/2006/relationships/image" Target="../media/image22.png"/><Relationship Id="rId24" Type="http://schemas.openxmlformats.org/officeDocument/2006/relationships/image" Target="../media/image23.png"/><Relationship Id="rId25" Type="http://schemas.openxmlformats.org/officeDocument/2006/relationships/image" Target="../media/image24.png"/><Relationship Id="rId26" Type="http://schemas.openxmlformats.org/officeDocument/2006/relationships/image" Target="../media/image25.png"/><Relationship Id="rId27" Type="http://schemas.openxmlformats.org/officeDocument/2006/relationships/image" Target="../media/image26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CF4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background" descr="backgroun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30868"/>
            <a:ext cx="9144000" cy="4812631"/>
          </a:xfrm>
          <a:prstGeom prst="rect">
            <a:avLst/>
          </a:prstGeom>
        </p:spPr>
      </p:pic>
      <p:pic>
        <p:nvPicPr>
          <p:cNvPr id="3" name="user-islet" descr="user-isle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875" y="3218447"/>
            <a:ext cx="1078029" cy="298383"/>
          </a:xfrm>
          <a:prstGeom prst="rect">
            <a:avLst/>
          </a:prstGeom>
        </p:spPr>
      </p:pic>
      <p:pic>
        <p:nvPicPr>
          <p:cNvPr id="4" name="user-coach-aji" descr="user-coach-aji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-19250" y="2101916"/>
            <a:ext cx="1203157" cy="1241658"/>
          </a:xfrm>
          <a:prstGeom prst="rect">
            <a:avLst/>
          </a:prstGeom>
        </p:spPr>
      </p:pic>
      <p:pic>
        <p:nvPicPr>
          <p:cNvPr id="5" name="frontend-island" descr="frontend-islan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260909" y="1870910"/>
            <a:ext cx="3734602" cy="1876926"/>
          </a:xfrm>
          <a:prstGeom prst="rect">
            <a:avLst/>
          </a:prstGeom>
        </p:spPr>
      </p:pic>
      <p:pic>
        <p:nvPicPr>
          <p:cNvPr id="6" name="frontend-ai-fitness" descr="frontend-ai-fitness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876926" y="1428148"/>
            <a:ext cx="770021" cy="1212783"/>
          </a:xfrm>
          <a:prstGeom prst="rect">
            <a:avLst/>
          </a:prstGeom>
        </p:spPr>
      </p:pic>
      <p:pic>
        <p:nvPicPr>
          <p:cNvPr id="7" name="frontend-island-game" descr="frontend-island-gam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532471" y="1399272"/>
            <a:ext cx="1491915" cy="1241658"/>
          </a:xfrm>
          <a:prstGeom prst="rect">
            <a:avLst/>
          </a:prstGeom>
        </p:spPr>
      </p:pic>
      <p:pic>
        <p:nvPicPr>
          <p:cNvPr id="8" name="frontend-health" descr="frontend-health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781701" y="2756434"/>
            <a:ext cx="693018" cy="567890"/>
          </a:xfrm>
          <a:prstGeom prst="rect">
            <a:avLst/>
          </a:prstGeom>
        </p:spPr>
      </p:pic>
      <p:pic>
        <p:nvPicPr>
          <p:cNvPr id="9" name="tool-react" descr="tool-react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636294" y="4084721"/>
            <a:ext cx="346509" cy="346509"/>
          </a:xfrm>
          <a:prstGeom prst="rect">
            <a:avLst/>
          </a:prstGeom>
        </p:spPr>
      </p:pic>
      <p:pic>
        <p:nvPicPr>
          <p:cNvPr id="10" name="tool-vite" descr="tool-vit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2271562" y="4084721"/>
            <a:ext cx="346509" cy="346509"/>
          </a:xfrm>
          <a:prstGeom prst="rect">
            <a:avLst/>
          </a:prstGeom>
        </p:spPr>
      </p:pic>
      <p:pic>
        <p:nvPicPr>
          <p:cNvPr id="11" name="tool-typescript" descr="tool-typescript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2906829" y="4084721"/>
            <a:ext cx="346509" cy="346509"/>
          </a:xfrm>
          <a:prstGeom prst="rect">
            <a:avLst/>
          </a:prstGeom>
        </p:spPr>
      </p:pic>
      <p:pic>
        <p:nvPicPr>
          <p:cNvPr id="12" name="tool-tailwind" descr="tool-tailwind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3542096" y="4084721"/>
            <a:ext cx="346509" cy="346509"/>
          </a:xfrm>
          <a:prstGeom prst="rect">
            <a:avLst/>
          </a:prstGeom>
        </p:spPr>
      </p:pic>
      <p:pic>
        <p:nvPicPr>
          <p:cNvPr id="13" name="tool-threejs" descr="tool-threejs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4177364" y="4084721"/>
            <a:ext cx="346509" cy="346509"/>
          </a:xfrm>
          <a:prstGeom prst="rect">
            <a:avLst/>
          </a:prstGeom>
        </p:spPr>
      </p:pic>
      <p:pic>
        <p:nvPicPr>
          <p:cNvPr id="14" name="tool-mediapipe" descr="tool-mediapipe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1414913" y="1707281"/>
            <a:ext cx="288757" cy="288757"/>
          </a:xfrm>
          <a:prstGeom prst="rect">
            <a:avLst/>
          </a:prstGeom>
        </p:spPr>
      </p:pic>
      <p:pic>
        <p:nvPicPr>
          <p:cNvPr id="15" name="icon-coin" descr="icon-coin.pn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5804033" y="2920064"/>
            <a:ext cx="173254" cy="173254"/>
          </a:xfrm>
          <a:prstGeom prst="rect">
            <a:avLst/>
          </a:prstGeom>
        </p:spPr>
      </p:pic>
      <p:pic>
        <p:nvPicPr>
          <p:cNvPr id="16" name="backend-cloud" descr="backend-cloud.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5711631" y="764005"/>
            <a:ext cx="3349591" cy="2194560"/>
          </a:xfrm>
          <a:prstGeom prst="rect">
            <a:avLst/>
          </a:prstGeom>
        </p:spPr>
      </p:pic>
      <p:pic>
        <p:nvPicPr>
          <p:cNvPr id="17" name="backend-auth-lock" descr="backend-auth-lock.png"/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6497052" y="1526326"/>
            <a:ext cx="508213" cy="600616"/>
          </a:xfrm>
          <a:prstGeom prst="rect">
            <a:avLst/>
          </a:prstGeom>
        </p:spPr>
      </p:pic>
      <p:pic>
        <p:nvPicPr>
          <p:cNvPr id="18" name="tool-firebase-auth" descr="tool-firebase-auth.png"/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6589455" y="2346398"/>
            <a:ext cx="323408" cy="323408"/>
          </a:xfrm>
          <a:prstGeom prst="rect">
            <a:avLst/>
          </a:prstGeom>
        </p:spPr>
      </p:pic>
      <p:pic>
        <p:nvPicPr>
          <p:cNvPr id="19" name="backend-training-verify-shield" descr="backend-training-verify-shield.png"/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7617433" y="1341521"/>
            <a:ext cx="577515" cy="669918"/>
          </a:xfrm>
          <a:prstGeom prst="rect">
            <a:avLst/>
          </a:prstGeom>
        </p:spPr>
      </p:pic>
      <p:pic>
        <p:nvPicPr>
          <p:cNvPr id="20" name="tool-cloudflare-workers" descr="tool-cloudflare-workers.png"/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7744486" y="2346398"/>
            <a:ext cx="323408" cy="323408"/>
          </a:xfrm>
          <a:prstGeom prst="rect">
            <a:avLst/>
          </a:prstGeom>
        </p:spPr>
      </p:pic>
      <p:pic>
        <p:nvPicPr>
          <p:cNvPr id="21" name="database-chest" descr="database-chest.png"/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6063915" y="4084721"/>
            <a:ext cx="1443789" cy="943275"/>
          </a:xfrm>
          <a:prstGeom prst="rect">
            <a:avLst/>
          </a:prstGeom>
        </p:spPr>
      </p:pic>
      <p:pic>
        <p:nvPicPr>
          <p:cNvPr id="22" name="tool-firestore" descr="tool-firestore.png"/>
          <p:cNvPicPr>
            <a:picLocks noChangeAspect="1"/>
          </p:cNvPicPr>
          <p:nvPr/>
        </p:nvPicPr>
        <p:blipFill>
          <a:blip r:embed="rId22"/>
          <a:stretch>
            <a:fillRect/>
          </a:stretch>
        </p:blipFill>
        <p:spPr>
          <a:xfrm>
            <a:off x="7575082" y="4604485"/>
            <a:ext cx="269507" cy="269507"/>
          </a:xfrm>
          <a:prstGeom prst="rect">
            <a:avLst/>
          </a:prstGeom>
        </p:spPr>
      </p:pic>
      <p:pic>
        <p:nvPicPr>
          <p:cNvPr id="23" name="arrow-user-to-app" descr="arrow-user-to-app.png"/>
          <p:cNvPicPr>
            <a:picLocks noChangeAspect="1"/>
          </p:cNvPicPr>
          <p:nvPr/>
        </p:nvPicPr>
        <p:blipFill>
          <a:blip r:embed="rId23"/>
          <a:stretch>
            <a:fillRect/>
          </a:stretch>
        </p:blipFill>
        <p:spPr>
          <a:xfrm>
            <a:off x="914400" y="2910438"/>
            <a:ext cx="577515" cy="231006"/>
          </a:xfrm>
          <a:prstGeom prst="rect">
            <a:avLst/>
          </a:prstGeom>
        </p:spPr>
      </p:pic>
      <p:pic>
        <p:nvPicPr>
          <p:cNvPr id="24" name="arrow-exercise-again" descr="arrow-exercise-again.png"/>
          <p:cNvPicPr>
            <a:picLocks noChangeAspect="1"/>
          </p:cNvPicPr>
          <p:nvPr/>
        </p:nvPicPr>
        <p:blipFill>
          <a:blip r:embed="rId24"/>
          <a:stretch>
            <a:fillRect/>
          </a:stretch>
        </p:blipFill>
        <p:spPr>
          <a:xfrm>
            <a:off x="2560320" y="2246295"/>
            <a:ext cx="1087654" cy="336884"/>
          </a:xfrm>
          <a:prstGeom prst="rect">
            <a:avLst/>
          </a:prstGeom>
        </p:spPr>
      </p:pic>
      <p:pic>
        <p:nvPicPr>
          <p:cNvPr id="25" name="arrow-skeleton-to-cloud" descr="arrow-skeleton-to-cloud.png"/>
          <p:cNvPicPr>
            <a:picLocks noChangeAspect="1"/>
          </p:cNvPicPr>
          <p:nvPr/>
        </p:nvPicPr>
        <p:blipFill>
          <a:blip r:embed="rId25"/>
          <a:stretch>
            <a:fillRect/>
          </a:stretch>
        </p:blipFill>
        <p:spPr>
          <a:xfrm>
            <a:off x="4860757" y="2207794"/>
            <a:ext cx="1010652" cy="317633"/>
          </a:xfrm>
          <a:prstGeom prst="rect">
            <a:avLst/>
          </a:prstGeom>
        </p:spPr>
      </p:pic>
      <p:pic>
        <p:nvPicPr>
          <p:cNvPr id="26" name="arrow-rewards-to-island" descr="arrow-rewards-to-island.png"/>
          <p:cNvPicPr>
            <a:picLocks noChangeAspect="1"/>
          </p:cNvPicPr>
          <p:nvPr/>
        </p:nvPicPr>
        <p:blipFill>
          <a:blip r:embed="rId26"/>
          <a:stretch>
            <a:fillRect/>
          </a:stretch>
        </p:blipFill>
        <p:spPr>
          <a:xfrm>
            <a:off x="4899258" y="2621681"/>
            <a:ext cx="1049153" cy="327258"/>
          </a:xfrm>
          <a:prstGeom prst="rect">
            <a:avLst/>
          </a:prstGeom>
        </p:spPr>
      </p:pic>
      <p:pic>
        <p:nvPicPr>
          <p:cNvPr id="27" name="arrow-cloud-database" descr="arrow-cloud-database.png"/>
          <p:cNvPicPr>
            <a:picLocks noChangeAspect="1"/>
          </p:cNvPicPr>
          <p:nvPr/>
        </p:nvPicPr>
        <p:blipFill>
          <a:blip r:embed="rId27"/>
          <a:stretch>
            <a:fillRect/>
          </a:stretch>
        </p:blipFill>
        <p:spPr>
          <a:xfrm>
            <a:off x="6670307" y="2891188"/>
            <a:ext cx="231006" cy="1386037"/>
          </a:xfrm>
          <a:prstGeom prst="rect">
            <a:avLst/>
          </a:prstGeom>
        </p:spPr>
      </p:pic>
      <p:sp>
        <p:nvSpPr>
          <p:cNvPr id="28" name="title"/>
          <p:cNvSpPr txBox="1"/>
          <p:nvPr/>
        </p:nvSpPr>
        <p:spPr>
          <a:xfrm>
            <a:off x="288757" y="472359"/>
            <a:ext cx="5471962" cy="351322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ct val="100000"/>
              </a:lnSpc>
            </a:pPr>
            <a:r>
              <a:rPr sz="1739">
                <a:solidFill>
                  <a:srgbClr val="264653"/>
                </a:solidFill>
                <a:latin typeface="Huninn"/>
              </a:rPr>
              <a:t>Island Fitness AI 系統架構圖</a:t>
            </a:r>
          </a:p>
        </p:txBody>
      </p:sp>
      <p:sp>
        <p:nvSpPr>
          <p:cNvPr id="29" name="label-user"/>
          <p:cNvSpPr txBox="1"/>
          <p:nvPr/>
        </p:nvSpPr>
        <p:spPr>
          <a:xfrm>
            <a:off x="105877" y="3548593"/>
            <a:ext cx="924025" cy="259882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ctr">
              <a:lnSpc>
                <a:spcPct val="100000"/>
              </a:lnSpc>
            </a:pPr>
            <a:r>
              <a:rPr sz="1290">
                <a:solidFill>
                  <a:srgbClr val="264653"/>
                </a:solidFill>
                <a:latin typeface="Huninn"/>
              </a:rPr>
              <a:t>使用者</a:t>
            </a:r>
          </a:p>
        </p:txBody>
      </p:sp>
      <p:sp>
        <p:nvSpPr>
          <p:cNvPr id="30" name="label-ai-fitness"/>
          <p:cNvSpPr txBox="1"/>
          <p:nvPr/>
        </p:nvSpPr>
        <p:spPr>
          <a:xfrm>
            <a:off x="1698858" y="2663069"/>
            <a:ext cx="1126155" cy="259882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ctr">
              <a:lnSpc>
                <a:spcPct val="100000"/>
              </a:lnSpc>
            </a:pPr>
            <a:r>
              <a:rPr sz="1290">
                <a:solidFill>
                  <a:srgbClr val="264653"/>
                </a:solidFill>
                <a:latin typeface="Huninn"/>
              </a:rPr>
              <a:t>AI 健身</a:t>
            </a:r>
          </a:p>
        </p:txBody>
      </p:sp>
      <p:sp>
        <p:nvSpPr>
          <p:cNvPr id="31" name="label-island-game"/>
          <p:cNvSpPr txBox="1"/>
          <p:nvPr/>
        </p:nvSpPr>
        <p:spPr>
          <a:xfrm>
            <a:off x="3400124" y="2663069"/>
            <a:ext cx="1169469" cy="259882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ctr">
              <a:lnSpc>
                <a:spcPct val="100000"/>
              </a:lnSpc>
            </a:pPr>
            <a:r>
              <a:rPr sz="1290">
                <a:solidFill>
                  <a:srgbClr val="264653"/>
                </a:solidFill>
                <a:latin typeface="Huninn"/>
              </a:rPr>
              <a:t>島嶼遊戲</a:t>
            </a:r>
          </a:p>
        </p:txBody>
      </p:sp>
      <p:sp>
        <p:nvSpPr>
          <p:cNvPr id="32" name="label-exercise-again"/>
          <p:cNvSpPr txBox="1"/>
          <p:nvPr/>
        </p:nvSpPr>
        <p:spPr>
          <a:xfrm>
            <a:off x="2685448" y="2539866"/>
            <a:ext cx="837397" cy="231006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ctr">
              <a:lnSpc>
                <a:spcPct val="100000"/>
              </a:lnSpc>
            </a:pPr>
            <a:r>
              <a:rPr sz="1140">
                <a:solidFill>
                  <a:srgbClr val="2A9D8F"/>
                </a:solidFill>
                <a:latin typeface="Huninn"/>
              </a:rPr>
              <a:t>再運動</a:t>
            </a:r>
          </a:p>
        </p:txBody>
      </p:sp>
      <p:sp>
        <p:nvSpPr>
          <p:cNvPr id="33" name="label-health"/>
          <p:cNvSpPr txBox="1"/>
          <p:nvPr/>
        </p:nvSpPr>
        <p:spPr>
          <a:xfrm>
            <a:off x="2803357" y="3299299"/>
            <a:ext cx="649705" cy="245444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ctr">
              <a:lnSpc>
                <a:spcPct val="100000"/>
              </a:lnSpc>
            </a:pPr>
            <a:r>
              <a:rPr sz="1210">
                <a:solidFill>
                  <a:srgbClr val="264653"/>
                </a:solidFill>
                <a:latin typeface="Huninn"/>
              </a:rPr>
              <a:t>健康</a:t>
            </a:r>
          </a:p>
        </p:txBody>
      </p:sp>
      <p:sp>
        <p:nvSpPr>
          <p:cNvPr id="34" name="label-frontend"/>
          <p:cNvSpPr txBox="1"/>
          <p:nvPr/>
        </p:nvSpPr>
        <p:spPr>
          <a:xfrm>
            <a:off x="1939490" y="3777675"/>
            <a:ext cx="2377440" cy="288757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ctr">
              <a:lnSpc>
                <a:spcPct val="100000"/>
              </a:lnSpc>
            </a:pPr>
            <a:r>
              <a:rPr sz="1440">
                <a:solidFill>
                  <a:srgbClr val="2A9D8F"/>
                </a:solidFill>
                <a:latin typeface="Huninn"/>
              </a:rPr>
              <a:t>前端・使用者裝置</a:t>
            </a:r>
          </a:p>
        </p:txBody>
      </p:sp>
      <p:sp>
        <p:nvSpPr>
          <p:cNvPr id="35" name="tool-react-name"/>
          <p:cNvSpPr txBox="1"/>
          <p:nvPr/>
        </p:nvSpPr>
        <p:spPr>
          <a:xfrm>
            <a:off x="1472665" y="4449518"/>
            <a:ext cx="673768" cy="168442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ctr">
              <a:lnSpc>
                <a:spcPct val="100000"/>
              </a:lnSpc>
            </a:pPr>
            <a:r>
              <a:rPr sz="830">
                <a:solidFill>
                  <a:srgbClr val="264653"/>
                </a:solidFill>
                <a:latin typeface="Huninn"/>
              </a:rPr>
              <a:t>React</a:t>
            </a:r>
          </a:p>
        </p:txBody>
      </p:sp>
      <p:sp>
        <p:nvSpPr>
          <p:cNvPr id="36" name="tool-vite-name"/>
          <p:cNvSpPr txBox="1"/>
          <p:nvPr/>
        </p:nvSpPr>
        <p:spPr>
          <a:xfrm>
            <a:off x="2156058" y="4449518"/>
            <a:ext cx="577515" cy="168442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ctr">
              <a:lnSpc>
                <a:spcPct val="100000"/>
              </a:lnSpc>
            </a:pPr>
            <a:r>
              <a:rPr sz="830">
                <a:solidFill>
                  <a:srgbClr val="264653"/>
                </a:solidFill>
                <a:latin typeface="Huninn"/>
              </a:rPr>
              <a:t>Vite</a:t>
            </a:r>
          </a:p>
        </p:txBody>
      </p:sp>
      <p:sp>
        <p:nvSpPr>
          <p:cNvPr id="37" name="tool-typescript-name"/>
          <p:cNvSpPr txBox="1"/>
          <p:nvPr/>
        </p:nvSpPr>
        <p:spPr>
          <a:xfrm>
            <a:off x="2502568" y="4449518"/>
            <a:ext cx="1155031" cy="168442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ctr">
              <a:lnSpc>
                <a:spcPct val="100000"/>
              </a:lnSpc>
            </a:pPr>
            <a:r>
              <a:rPr sz="830">
                <a:solidFill>
                  <a:srgbClr val="264653"/>
                </a:solidFill>
                <a:latin typeface="Huninn"/>
              </a:rPr>
              <a:t>TypeScript</a:t>
            </a:r>
          </a:p>
        </p:txBody>
      </p:sp>
      <p:sp>
        <p:nvSpPr>
          <p:cNvPr id="38" name="tool-tailwind-name"/>
          <p:cNvSpPr txBox="1"/>
          <p:nvPr/>
        </p:nvSpPr>
        <p:spPr>
          <a:xfrm>
            <a:off x="3041583" y="4449518"/>
            <a:ext cx="1347536" cy="168442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ctr">
              <a:lnSpc>
                <a:spcPct val="100000"/>
              </a:lnSpc>
            </a:pPr>
            <a:r>
              <a:rPr sz="830">
                <a:solidFill>
                  <a:srgbClr val="264653"/>
                </a:solidFill>
                <a:latin typeface="Huninn"/>
              </a:rPr>
              <a:t>Tailwind CSS</a:t>
            </a:r>
          </a:p>
        </p:txBody>
      </p:sp>
      <p:sp>
        <p:nvSpPr>
          <p:cNvPr id="39" name="tool-threejs-name"/>
          <p:cNvSpPr txBox="1"/>
          <p:nvPr/>
        </p:nvSpPr>
        <p:spPr>
          <a:xfrm>
            <a:off x="3869355" y="4449518"/>
            <a:ext cx="962526" cy="168442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ctr">
              <a:lnSpc>
                <a:spcPct val="100000"/>
              </a:lnSpc>
            </a:pPr>
            <a:r>
              <a:rPr sz="830">
                <a:solidFill>
                  <a:srgbClr val="264653"/>
                </a:solidFill>
                <a:latin typeface="Huninn"/>
              </a:rPr>
              <a:t>three.js</a:t>
            </a:r>
          </a:p>
        </p:txBody>
      </p:sp>
      <p:sp>
        <p:nvSpPr>
          <p:cNvPr id="40" name="tool-mediapipe-name"/>
          <p:cNvSpPr txBox="1"/>
          <p:nvPr/>
        </p:nvSpPr>
        <p:spPr>
          <a:xfrm>
            <a:off x="1070810" y="2015289"/>
            <a:ext cx="976964" cy="154004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ctr">
              <a:lnSpc>
                <a:spcPct val="100000"/>
              </a:lnSpc>
            </a:pPr>
            <a:r>
              <a:rPr sz="760">
                <a:solidFill>
                  <a:srgbClr val="264653"/>
                </a:solidFill>
                <a:latin typeface="Huninn"/>
              </a:rPr>
              <a:t>MediaPipe</a:t>
            </a:r>
          </a:p>
        </p:txBody>
      </p:sp>
      <p:sp>
        <p:nvSpPr>
          <p:cNvPr id="41" name="label-skeleton"/>
          <p:cNvSpPr txBox="1"/>
          <p:nvPr/>
        </p:nvSpPr>
        <p:spPr>
          <a:xfrm>
            <a:off x="4892040" y="2099029"/>
            <a:ext cx="938463" cy="197317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ctr">
              <a:lnSpc>
                <a:spcPct val="100000"/>
              </a:lnSpc>
            </a:pPr>
            <a:r>
              <a:rPr sz="990">
                <a:solidFill>
                  <a:srgbClr val="264653"/>
                </a:solidFill>
                <a:latin typeface="Huninn"/>
              </a:rPr>
              <a:t>骨架座標</a:t>
            </a:r>
          </a:p>
        </p:txBody>
      </p:sp>
      <p:sp>
        <p:nvSpPr>
          <p:cNvPr id="42" name="label-rewards"/>
          <p:cNvSpPr txBox="1"/>
          <p:nvPr/>
        </p:nvSpPr>
        <p:spPr>
          <a:xfrm>
            <a:off x="4865570" y="2917176"/>
            <a:ext cx="1126155" cy="197317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ctr">
              <a:lnSpc>
                <a:spcPct val="100000"/>
              </a:lnSpc>
            </a:pPr>
            <a:r>
              <a:rPr sz="990">
                <a:solidFill>
                  <a:srgbClr val="B7801F"/>
                </a:solidFill>
                <a:latin typeface="Huninn"/>
              </a:rPr>
              <a:t>金幣・點數</a:t>
            </a:r>
          </a:p>
        </p:txBody>
      </p:sp>
      <p:sp>
        <p:nvSpPr>
          <p:cNvPr id="43" name="label-auth"/>
          <p:cNvSpPr txBox="1"/>
          <p:nvPr/>
        </p:nvSpPr>
        <p:spPr>
          <a:xfrm>
            <a:off x="6166424" y="2120204"/>
            <a:ext cx="1169469" cy="259882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ctr">
              <a:lnSpc>
                <a:spcPct val="100000"/>
              </a:lnSpc>
            </a:pPr>
            <a:r>
              <a:rPr sz="1290">
                <a:solidFill>
                  <a:srgbClr val="264653"/>
                </a:solidFill>
                <a:latin typeface="Huninn"/>
              </a:rPr>
              <a:t>帳號驗證</a:t>
            </a:r>
          </a:p>
        </p:txBody>
      </p:sp>
      <p:sp>
        <p:nvSpPr>
          <p:cNvPr id="44" name="tool-firebase-auth-name"/>
          <p:cNvSpPr txBox="1"/>
          <p:nvPr/>
        </p:nvSpPr>
        <p:spPr>
          <a:xfrm>
            <a:off x="6029264" y="2691945"/>
            <a:ext cx="1443789" cy="168442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ctr">
              <a:lnSpc>
                <a:spcPct val="100000"/>
              </a:lnSpc>
            </a:pPr>
            <a:r>
              <a:rPr sz="830">
                <a:solidFill>
                  <a:srgbClr val="264653"/>
                </a:solidFill>
                <a:latin typeface="Huninn"/>
              </a:rPr>
              <a:t>Firebase Auth</a:t>
            </a:r>
          </a:p>
        </p:txBody>
      </p:sp>
      <p:sp>
        <p:nvSpPr>
          <p:cNvPr id="45" name="label-training-verify"/>
          <p:cNvSpPr txBox="1"/>
          <p:nvPr/>
        </p:nvSpPr>
        <p:spPr>
          <a:xfrm>
            <a:off x="7321456" y="2120204"/>
            <a:ext cx="1169469" cy="259882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ctr">
              <a:lnSpc>
                <a:spcPct val="100000"/>
              </a:lnSpc>
            </a:pPr>
            <a:r>
              <a:rPr sz="1290">
                <a:solidFill>
                  <a:srgbClr val="264653"/>
                </a:solidFill>
                <a:latin typeface="Huninn"/>
              </a:rPr>
              <a:t>訓練複驗</a:t>
            </a:r>
          </a:p>
        </p:txBody>
      </p:sp>
      <p:sp>
        <p:nvSpPr>
          <p:cNvPr id="46" name="tool-cloudflare-workers-name"/>
          <p:cNvSpPr txBox="1"/>
          <p:nvPr/>
        </p:nvSpPr>
        <p:spPr>
          <a:xfrm>
            <a:off x="6943664" y="2691945"/>
            <a:ext cx="1925052" cy="168442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ctr">
              <a:lnSpc>
                <a:spcPct val="100000"/>
              </a:lnSpc>
            </a:pPr>
            <a:r>
              <a:rPr sz="830">
                <a:solidFill>
                  <a:srgbClr val="264653"/>
                </a:solidFill>
                <a:latin typeface="Huninn"/>
              </a:rPr>
              <a:t>Cloudflare Workers</a:t>
            </a:r>
          </a:p>
        </p:txBody>
      </p:sp>
      <p:sp>
        <p:nvSpPr>
          <p:cNvPr id="47" name="label-backend"/>
          <p:cNvSpPr txBox="1"/>
          <p:nvPr/>
        </p:nvSpPr>
        <p:spPr>
          <a:xfrm>
            <a:off x="6583680" y="533961"/>
            <a:ext cx="1559292" cy="288757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ctr">
              <a:lnSpc>
                <a:spcPct val="100000"/>
              </a:lnSpc>
            </a:pPr>
            <a:r>
              <a:rPr sz="1440">
                <a:solidFill>
                  <a:srgbClr val="264653"/>
                </a:solidFill>
                <a:latin typeface="Huninn"/>
              </a:rPr>
              <a:t>後端・雲端</a:t>
            </a:r>
          </a:p>
        </p:txBody>
      </p:sp>
      <p:sp>
        <p:nvSpPr>
          <p:cNvPr id="48" name="label-database"/>
          <p:cNvSpPr txBox="1"/>
          <p:nvPr/>
        </p:nvSpPr>
        <p:spPr>
          <a:xfrm>
            <a:off x="7575082" y="4162685"/>
            <a:ext cx="1010652" cy="288757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ct val="100000"/>
              </a:lnSpc>
            </a:pPr>
            <a:r>
              <a:rPr sz="1440">
                <a:solidFill>
                  <a:srgbClr val="264653"/>
                </a:solidFill>
                <a:latin typeface="Huninn"/>
              </a:rPr>
              <a:t>資料庫</a:t>
            </a:r>
          </a:p>
        </p:txBody>
      </p:sp>
      <p:sp>
        <p:nvSpPr>
          <p:cNvPr id="49" name="label-database-content"/>
          <p:cNvSpPr txBox="1"/>
          <p:nvPr/>
        </p:nvSpPr>
        <p:spPr>
          <a:xfrm>
            <a:off x="7575082" y="4430268"/>
            <a:ext cx="1568917" cy="168442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ct val="100000"/>
              </a:lnSpc>
            </a:pPr>
            <a:r>
              <a:rPr sz="830">
                <a:solidFill>
                  <a:srgbClr val="264653"/>
                </a:solidFill>
                <a:latin typeface="Huninn"/>
              </a:rPr>
              <a:t>帳號・紀錄・島嶼・點數</a:t>
            </a:r>
          </a:p>
        </p:txBody>
      </p:sp>
      <p:sp>
        <p:nvSpPr>
          <p:cNvPr id="50" name="label-firestore"/>
          <p:cNvSpPr txBox="1"/>
          <p:nvPr/>
        </p:nvSpPr>
        <p:spPr>
          <a:xfrm>
            <a:off x="7883090" y="4659349"/>
            <a:ext cx="1212783" cy="197317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ct val="100000"/>
              </a:lnSpc>
            </a:pPr>
            <a:r>
              <a:rPr sz="990">
                <a:solidFill>
                  <a:srgbClr val="264653"/>
                </a:solidFill>
                <a:latin typeface="Huninn"/>
              </a:rPr>
              <a:t>Firestore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