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097500" cy="9525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Relationship Id="rId27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097500" cy="9525000"/>
          </a:xfrm>
          <a:prstGeom prst="rect">
            <a:avLst/>
          </a:prstGeom>
        </p:spPr>
      </p:pic>
      <p:pic>
        <p:nvPicPr>
          <p:cNvPr id="3" name="user-islet" descr="user-is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" y="5715000"/>
            <a:ext cx="2133600" cy="590550"/>
          </a:xfrm>
          <a:prstGeom prst="rect">
            <a:avLst/>
          </a:prstGeom>
        </p:spPr>
      </p:pic>
      <p:pic>
        <p:nvPicPr>
          <p:cNvPr id="4" name="user-coach-aji" descr="user-coach-aj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8100" y="3505200"/>
            <a:ext cx="2381250" cy="2457450"/>
          </a:xfrm>
          <a:prstGeom prst="rect">
            <a:avLst/>
          </a:prstGeom>
        </p:spPr>
      </p:pic>
      <p:pic>
        <p:nvPicPr>
          <p:cNvPr id="5" name="frontend-island" descr="frontend-isl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5550" y="3048000"/>
            <a:ext cx="7391400" cy="3714750"/>
          </a:xfrm>
          <a:prstGeom prst="rect">
            <a:avLst/>
          </a:prstGeom>
        </p:spPr>
      </p:pic>
      <p:pic>
        <p:nvPicPr>
          <p:cNvPr id="6" name="frontend-ai-fitness" descr="frontend-ai-fitnes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4750" y="2171700"/>
            <a:ext cx="1524000" cy="2400300"/>
          </a:xfrm>
          <a:prstGeom prst="rect">
            <a:avLst/>
          </a:prstGeom>
        </p:spPr>
      </p:pic>
      <p:pic>
        <p:nvPicPr>
          <p:cNvPr id="7" name="frontend-island-game" descr="frontend-island-gam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1350" y="2114550"/>
            <a:ext cx="2952750" cy="2457450"/>
          </a:xfrm>
          <a:prstGeom prst="rect">
            <a:avLst/>
          </a:prstGeom>
        </p:spPr>
      </p:pic>
      <p:pic>
        <p:nvPicPr>
          <p:cNvPr id="8" name="frontend-health" descr="frontend-healt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05450" y="4800600"/>
            <a:ext cx="1371600" cy="1123950"/>
          </a:xfrm>
          <a:prstGeom prst="rect">
            <a:avLst/>
          </a:prstGeom>
        </p:spPr>
      </p:pic>
      <p:pic>
        <p:nvPicPr>
          <p:cNvPr id="9" name="tool-react" descr="tool-reac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38500" y="7429500"/>
            <a:ext cx="685800" cy="685800"/>
          </a:xfrm>
          <a:prstGeom prst="rect">
            <a:avLst/>
          </a:prstGeom>
        </p:spPr>
      </p:pic>
      <p:pic>
        <p:nvPicPr>
          <p:cNvPr id="10" name="tool-vite" descr="tool-v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95800" y="7429500"/>
            <a:ext cx="685800" cy="685800"/>
          </a:xfrm>
          <a:prstGeom prst="rect">
            <a:avLst/>
          </a:prstGeom>
        </p:spPr>
      </p:pic>
      <p:pic>
        <p:nvPicPr>
          <p:cNvPr id="11" name="tool-typescript" descr="tool-typescrip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53100" y="7429500"/>
            <a:ext cx="685800" cy="685800"/>
          </a:xfrm>
          <a:prstGeom prst="rect">
            <a:avLst/>
          </a:prstGeom>
        </p:spPr>
      </p:pic>
      <p:pic>
        <p:nvPicPr>
          <p:cNvPr id="12" name="tool-tailwind" descr="tool-tailwin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10400" y="7429500"/>
            <a:ext cx="685800" cy="685800"/>
          </a:xfrm>
          <a:prstGeom prst="rect">
            <a:avLst/>
          </a:prstGeom>
        </p:spPr>
      </p:pic>
      <p:pic>
        <p:nvPicPr>
          <p:cNvPr id="13" name="tool-threejs" descr="tool-threej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67700" y="7429500"/>
            <a:ext cx="685800" cy="685800"/>
          </a:xfrm>
          <a:prstGeom prst="rect">
            <a:avLst/>
          </a:prstGeom>
        </p:spPr>
      </p:pic>
      <p:pic>
        <p:nvPicPr>
          <p:cNvPr id="14" name="tool-mediapipe" descr="tool-mediapip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00350" y="2724150"/>
            <a:ext cx="571500" cy="571500"/>
          </a:xfrm>
          <a:prstGeom prst="rect">
            <a:avLst/>
          </a:prstGeom>
        </p:spPr>
      </p:pic>
      <p:pic>
        <p:nvPicPr>
          <p:cNvPr id="15" name="icon-coin" descr="icon-coin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487150" y="5124450"/>
            <a:ext cx="342900" cy="342900"/>
          </a:xfrm>
          <a:prstGeom prst="rect">
            <a:avLst/>
          </a:prstGeom>
        </p:spPr>
      </p:pic>
      <p:pic>
        <p:nvPicPr>
          <p:cNvPr id="16" name="backend-cloud" descr="backend-clou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304270" y="857250"/>
            <a:ext cx="6629400" cy="4343400"/>
          </a:xfrm>
          <a:prstGeom prst="rect">
            <a:avLst/>
          </a:prstGeom>
        </p:spPr>
      </p:pic>
      <p:pic>
        <p:nvPicPr>
          <p:cNvPr id="17" name="backend-auth-lock" descr="backend-auth-lock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2858750" y="2366010"/>
            <a:ext cx="1005840" cy="1188720"/>
          </a:xfrm>
          <a:prstGeom prst="rect">
            <a:avLst/>
          </a:prstGeom>
        </p:spPr>
      </p:pic>
      <p:pic>
        <p:nvPicPr>
          <p:cNvPr id="18" name="tool-firebase-auth" descr="tool-firebase-auth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3041630" y="3989070"/>
            <a:ext cx="640080" cy="640080"/>
          </a:xfrm>
          <a:prstGeom prst="rect">
            <a:avLst/>
          </a:prstGeom>
        </p:spPr>
      </p:pic>
      <p:pic>
        <p:nvPicPr>
          <p:cNvPr id="19" name="backend-training-verify-shield" descr="backend-training-verify-shiel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076170" y="2000250"/>
            <a:ext cx="1143000" cy="1325880"/>
          </a:xfrm>
          <a:prstGeom prst="rect">
            <a:avLst/>
          </a:prstGeom>
        </p:spPr>
      </p:pic>
      <p:pic>
        <p:nvPicPr>
          <p:cNvPr id="20" name="tool-cloudflare-workers" descr="tool-cloudflare-workers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327630" y="3989070"/>
            <a:ext cx="640080" cy="640080"/>
          </a:xfrm>
          <a:prstGeom prst="rect">
            <a:avLst/>
          </a:prstGeom>
        </p:spPr>
      </p:pic>
      <p:pic>
        <p:nvPicPr>
          <p:cNvPr id="21" name="database-chest" descr="database-chest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2001500" y="7429500"/>
            <a:ext cx="2857500" cy="1866900"/>
          </a:xfrm>
          <a:prstGeom prst="rect">
            <a:avLst/>
          </a:prstGeom>
        </p:spPr>
      </p:pic>
      <p:pic>
        <p:nvPicPr>
          <p:cNvPr id="22" name="tool-firestore" descr="tool-firestor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4992350" y="8458200"/>
            <a:ext cx="533400" cy="533400"/>
          </a:xfrm>
          <a:prstGeom prst="rect">
            <a:avLst/>
          </a:prstGeom>
        </p:spPr>
      </p:pic>
      <p:pic>
        <p:nvPicPr>
          <p:cNvPr id="23" name="arrow-user-to-app" descr="arrow-user-to-app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809750" y="5105400"/>
            <a:ext cx="1143000" cy="457200"/>
          </a:xfrm>
          <a:prstGeom prst="rect">
            <a:avLst/>
          </a:prstGeom>
        </p:spPr>
      </p:pic>
      <p:pic>
        <p:nvPicPr>
          <p:cNvPr id="24" name="arrow-exercise-again" descr="arrow-exercise-again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067300" y="3790950"/>
            <a:ext cx="2152650" cy="666750"/>
          </a:xfrm>
          <a:prstGeom prst="rect">
            <a:avLst/>
          </a:prstGeom>
        </p:spPr>
      </p:pic>
      <p:pic>
        <p:nvPicPr>
          <p:cNvPr id="25" name="arrow-skeleton-to-cloud" descr="arrow-skeleton-to-clou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620250" y="3714750"/>
            <a:ext cx="2000250" cy="628650"/>
          </a:xfrm>
          <a:prstGeom prst="rect">
            <a:avLst/>
          </a:prstGeom>
        </p:spPr>
      </p:pic>
      <p:pic>
        <p:nvPicPr>
          <p:cNvPr id="26" name="arrow-rewards-to-island" descr="arrow-rewards-to-islan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696450" y="4533900"/>
            <a:ext cx="2076450" cy="647700"/>
          </a:xfrm>
          <a:prstGeom prst="rect">
            <a:avLst/>
          </a:prstGeom>
        </p:spPr>
      </p:pic>
      <p:pic>
        <p:nvPicPr>
          <p:cNvPr id="27" name="arrow-cloud-database" descr="arrow-cloud-databas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3201650" y="5067300"/>
            <a:ext cx="457200" cy="2743200"/>
          </a:xfrm>
          <a:prstGeom prst="rect">
            <a:avLst/>
          </a:prstGeom>
        </p:spPr>
      </p:pic>
      <p:sp>
        <p:nvSpPr>
          <p:cNvPr id="28" name="title"/>
          <p:cNvSpPr txBox="1"/>
          <p:nvPr/>
        </p:nvSpPr>
        <p:spPr>
          <a:xfrm>
            <a:off x="571500" y="301942"/>
            <a:ext cx="699135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450">
                <a:solidFill>
                  <a:srgbClr val="264653"/>
                </a:solidFill>
                <a:latin typeface="Huninn"/>
              </a:rPr>
              <a:t>Island Fitness AI 系統架構圖</a:t>
            </a:r>
          </a:p>
        </p:txBody>
      </p:sp>
      <p:sp>
        <p:nvSpPr>
          <p:cNvPr id="29" name="label-user"/>
          <p:cNvSpPr txBox="1"/>
          <p:nvPr/>
        </p:nvSpPr>
        <p:spPr>
          <a:xfrm>
            <a:off x="523875" y="6384607"/>
            <a:ext cx="1200150" cy="4476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550">
                <a:solidFill>
                  <a:srgbClr val="264653"/>
                </a:solidFill>
                <a:latin typeface="Huninn"/>
              </a:rPr>
              <a:t>使用者</a:t>
            </a:r>
          </a:p>
        </p:txBody>
      </p:sp>
      <p:sp>
        <p:nvSpPr>
          <p:cNvPr id="30" name="label-ai-fitness"/>
          <p:cNvSpPr txBox="1"/>
          <p:nvPr/>
        </p:nvSpPr>
        <p:spPr>
          <a:xfrm>
            <a:off x="3757612" y="4632007"/>
            <a:ext cx="1438275" cy="4476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550">
                <a:solidFill>
                  <a:srgbClr val="264653"/>
                </a:solidFill>
                <a:latin typeface="Huninn"/>
              </a:rPr>
              <a:t>AI 健身</a:t>
            </a:r>
          </a:p>
        </p:txBody>
      </p:sp>
      <p:sp>
        <p:nvSpPr>
          <p:cNvPr id="31" name="label-island-game"/>
          <p:cNvSpPr txBox="1"/>
          <p:nvPr/>
        </p:nvSpPr>
        <p:spPr>
          <a:xfrm>
            <a:off x="7124700" y="4632007"/>
            <a:ext cx="1524000" cy="4476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550">
                <a:solidFill>
                  <a:srgbClr val="264653"/>
                </a:solidFill>
                <a:latin typeface="Huninn"/>
              </a:rPr>
              <a:t>島嶼遊戲</a:t>
            </a:r>
          </a:p>
        </p:txBody>
      </p:sp>
      <p:sp>
        <p:nvSpPr>
          <p:cNvPr id="32" name="label-exercise-again"/>
          <p:cNvSpPr txBox="1"/>
          <p:nvPr/>
        </p:nvSpPr>
        <p:spPr>
          <a:xfrm>
            <a:off x="5600700" y="4386262"/>
            <a:ext cx="1085850" cy="4000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250">
                <a:solidFill>
                  <a:srgbClr val="2A9D8F"/>
                </a:solidFill>
                <a:latin typeface="Huninn"/>
              </a:rPr>
              <a:t>再運動</a:t>
            </a:r>
          </a:p>
        </p:txBody>
      </p:sp>
      <p:sp>
        <p:nvSpPr>
          <p:cNvPr id="33" name="label-health"/>
          <p:cNvSpPr txBox="1"/>
          <p:nvPr/>
        </p:nvSpPr>
        <p:spPr>
          <a:xfrm>
            <a:off x="5772150" y="5890260"/>
            <a:ext cx="8382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400">
                <a:solidFill>
                  <a:srgbClr val="264653"/>
                </a:solidFill>
                <a:latin typeface="Huninn"/>
              </a:rPr>
              <a:t>健康</a:t>
            </a:r>
          </a:p>
        </p:txBody>
      </p:sp>
      <p:sp>
        <p:nvSpPr>
          <p:cNvPr id="34" name="label-frontend"/>
          <p:cNvSpPr txBox="1"/>
          <p:nvPr/>
        </p:nvSpPr>
        <p:spPr>
          <a:xfrm>
            <a:off x="4629150" y="6839902"/>
            <a:ext cx="3124200" cy="5048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850">
                <a:solidFill>
                  <a:srgbClr val="2A9D8F"/>
                </a:solidFill>
                <a:latin typeface="Huninn"/>
              </a:rPr>
              <a:t>前端・使用者裝置</a:t>
            </a:r>
          </a:p>
        </p:txBody>
      </p:sp>
      <p:sp>
        <p:nvSpPr>
          <p:cNvPr id="35" name="tool-react-name"/>
          <p:cNvSpPr txBox="1"/>
          <p:nvPr/>
        </p:nvSpPr>
        <p:spPr>
          <a:xfrm>
            <a:off x="3167062" y="8161972"/>
            <a:ext cx="828675" cy="285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50">
                <a:solidFill>
                  <a:srgbClr val="264653"/>
                </a:solidFill>
                <a:latin typeface="Huninn"/>
              </a:rPr>
              <a:t>React</a:t>
            </a:r>
          </a:p>
        </p:txBody>
      </p:sp>
      <p:sp>
        <p:nvSpPr>
          <p:cNvPr id="36" name="tool-vite-name"/>
          <p:cNvSpPr txBox="1"/>
          <p:nvPr/>
        </p:nvSpPr>
        <p:spPr>
          <a:xfrm>
            <a:off x="4481512" y="8161972"/>
            <a:ext cx="714375" cy="285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50">
                <a:solidFill>
                  <a:srgbClr val="264653"/>
                </a:solidFill>
                <a:latin typeface="Huninn"/>
              </a:rPr>
              <a:t>Vite</a:t>
            </a:r>
          </a:p>
        </p:txBody>
      </p:sp>
      <p:sp>
        <p:nvSpPr>
          <p:cNvPr id="37" name="tool-typescript-name"/>
          <p:cNvSpPr txBox="1"/>
          <p:nvPr/>
        </p:nvSpPr>
        <p:spPr>
          <a:xfrm>
            <a:off x="5376862" y="8161972"/>
            <a:ext cx="1438275" cy="285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50">
                <a:solidFill>
                  <a:srgbClr val="264653"/>
                </a:solidFill>
                <a:latin typeface="Huninn"/>
              </a:rPr>
              <a:t>TypeScript</a:t>
            </a:r>
          </a:p>
        </p:txBody>
      </p:sp>
      <p:sp>
        <p:nvSpPr>
          <p:cNvPr id="38" name="tool-tailwind-name"/>
          <p:cNvSpPr txBox="1"/>
          <p:nvPr/>
        </p:nvSpPr>
        <p:spPr>
          <a:xfrm>
            <a:off x="6510337" y="8161972"/>
            <a:ext cx="1685925" cy="285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50">
                <a:solidFill>
                  <a:srgbClr val="264653"/>
                </a:solidFill>
                <a:latin typeface="Huninn"/>
              </a:rPr>
              <a:t>Tailwind CSS</a:t>
            </a:r>
          </a:p>
        </p:txBody>
      </p:sp>
      <p:sp>
        <p:nvSpPr>
          <p:cNvPr id="39" name="tool-threejs-name"/>
          <p:cNvSpPr txBox="1"/>
          <p:nvPr/>
        </p:nvSpPr>
        <p:spPr>
          <a:xfrm>
            <a:off x="8010525" y="8161972"/>
            <a:ext cx="1200150" cy="285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50">
                <a:solidFill>
                  <a:srgbClr val="264653"/>
                </a:solidFill>
                <a:latin typeface="Huninn"/>
              </a:rPr>
              <a:t>three.js</a:t>
            </a:r>
          </a:p>
        </p:txBody>
      </p:sp>
      <p:sp>
        <p:nvSpPr>
          <p:cNvPr id="40" name="tool-mediapipe-name"/>
          <p:cNvSpPr txBox="1"/>
          <p:nvPr/>
        </p:nvSpPr>
        <p:spPr>
          <a:xfrm>
            <a:off x="2476500" y="3343275"/>
            <a:ext cx="1219200" cy="266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>
                <a:solidFill>
                  <a:srgbClr val="264653"/>
                </a:solidFill>
                <a:latin typeface="Huninn"/>
              </a:rPr>
              <a:t>MediaPipe</a:t>
            </a:r>
          </a:p>
        </p:txBody>
      </p:sp>
      <p:sp>
        <p:nvSpPr>
          <p:cNvPr id="41" name="label-skeleton"/>
          <p:cNvSpPr txBox="1"/>
          <p:nvPr/>
        </p:nvSpPr>
        <p:spPr>
          <a:xfrm>
            <a:off x="10001250" y="3511867"/>
            <a:ext cx="1219200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50">
                <a:solidFill>
                  <a:srgbClr val="264653"/>
                </a:solidFill>
                <a:latin typeface="Huninn"/>
              </a:rPr>
              <a:t>骨架座標</a:t>
            </a:r>
          </a:p>
        </p:txBody>
      </p:sp>
      <p:sp>
        <p:nvSpPr>
          <p:cNvPr id="42" name="label-rewards"/>
          <p:cNvSpPr txBox="1"/>
          <p:nvPr/>
        </p:nvSpPr>
        <p:spPr>
          <a:xfrm>
            <a:off x="10010775" y="5131117"/>
            <a:ext cx="1466850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50">
                <a:solidFill>
                  <a:srgbClr val="B7801F"/>
                </a:solidFill>
                <a:latin typeface="Huninn"/>
              </a:rPr>
              <a:t>金幣・點數</a:t>
            </a:r>
          </a:p>
        </p:txBody>
      </p:sp>
      <p:sp>
        <p:nvSpPr>
          <p:cNvPr id="43" name="label-auth"/>
          <p:cNvSpPr txBox="1"/>
          <p:nvPr/>
        </p:nvSpPr>
        <p:spPr>
          <a:xfrm>
            <a:off x="12599670" y="3557587"/>
            <a:ext cx="1524000" cy="4476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550">
                <a:solidFill>
                  <a:srgbClr val="264653"/>
                </a:solidFill>
                <a:latin typeface="Huninn"/>
              </a:rPr>
              <a:t>帳號驗證</a:t>
            </a:r>
          </a:p>
        </p:txBody>
      </p:sp>
      <p:sp>
        <p:nvSpPr>
          <p:cNvPr id="44" name="tool-firebase-auth-name"/>
          <p:cNvSpPr txBox="1"/>
          <p:nvPr/>
        </p:nvSpPr>
        <p:spPr>
          <a:xfrm>
            <a:off x="12461557" y="4683442"/>
            <a:ext cx="1800225" cy="285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50">
                <a:solidFill>
                  <a:srgbClr val="264653"/>
                </a:solidFill>
                <a:latin typeface="Huninn"/>
              </a:rPr>
              <a:t>Firebase Auth</a:t>
            </a:r>
          </a:p>
        </p:txBody>
      </p:sp>
      <p:sp>
        <p:nvSpPr>
          <p:cNvPr id="45" name="label-training-verify"/>
          <p:cNvSpPr txBox="1"/>
          <p:nvPr/>
        </p:nvSpPr>
        <p:spPr>
          <a:xfrm>
            <a:off x="14885670" y="3557587"/>
            <a:ext cx="1524000" cy="4476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550">
                <a:solidFill>
                  <a:srgbClr val="264653"/>
                </a:solidFill>
                <a:latin typeface="Huninn"/>
              </a:rPr>
              <a:t>訓練複驗</a:t>
            </a:r>
          </a:p>
        </p:txBody>
      </p:sp>
      <p:sp>
        <p:nvSpPr>
          <p:cNvPr id="46" name="tool-cloudflare-workers-name"/>
          <p:cNvSpPr txBox="1"/>
          <p:nvPr/>
        </p:nvSpPr>
        <p:spPr>
          <a:xfrm>
            <a:off x="14442757" y="4683442"/>
            <a:ext cx="2409825" cy="285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50">
                <a:solidFill>
                  <a:srgbClr val="264653"/>
                </a:solidFill>
                <a:latin typeface="Huninn"/>
              </a:rPr>
              <a:t>Cloudflare Workers</a:t>
            </a:r>
          </a:p>
        </p:txBody>
      </p:sp>
      <p:sp>
        <p:nvSpPr>
          <p:cNvPr id="47" name="label-backend"/>
          <p:cNvSpPr txBox="1"/>
          <p:nvPr/>
        </p:nvSpPr>
        <p:spPr>
          <a:xfrm>
            <a:off x="13554075" y="420052"/>
            <a:ext cx="2038350" cy="5048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850">
                <a:solidFill>
                  <a:srgbClr val="264653"/>
                </a:solidFill>
                <a:latin typeface="Huninn"/>
              </a:rPr>
              <a:t>後端・雲端</a:t>
            </a:r>
          </a:p>
        </p:txBody>
      </p:sp>
      <p:sp>
        <p:nvSpPr>
          <p:cNvPr id="48" name="label-database"/>
          <p:cNvSpPr txBox="1"/>
          <p:nvPr/>
        </p:nvSpPr>
        <p:spPr>
          <a:xfrm>
            <a:off x="14992350" y="7601902"/>
            <a:ext cx="1314450" cy="5048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850">
                <a:solidFill>
                  <a:srgbClr val="264653"/>
                </a:solidFill>
                <a:latin typeface="Huninn"/>
              </a:rPr>
              <a:t>資料庫</a:t>
            </a:r>
          </a:p>
        </p:txBody>
      </p:sp>
      <p:sp>
        <p:nvSpPr>
          <p:cNvPr id="49" name="label-database-content"/>
          <p:cNvSpPr txBox="1"/>
          <p:nvPr/>
        </p:nvSpPr>
        <p:spPr>
          <a:xfrm>
            <a:off x="14992350" y="8123872"/>
            <a:ext cx="2533650" cy="285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50">
                <a:solidFill>
                  <a:srgbClr val="264653"/>
                </a:solidFill>
                <a:latin typeface="Huninn"/>
              </a:rPr>
              <a:t>帳號・紀錄・島嶼・點數</a:t>
            </a:r>
          </a:p>
        </p:txBody>
      </p:sp>
      <p:sp>
        <p:nvSpPr>
          <p:cNvPr id="50" name="label-firestore"/>
          <p:cNvSpPr txBox="1"/>
          <p:nvPr/>
        </p:nvSpPr>
        <p:spPr>
          <a:xfrm>
            <a:off x="15601950" y="8579167"/>
            <a:ext cx="1514475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950">
                <a:solidFill>
                  <a:srgbClr val="264653"/>
                </a:solidFill>
                <a:latin typeface="Huninn"/>
              </a:rPr>
              <a:t>Firestore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